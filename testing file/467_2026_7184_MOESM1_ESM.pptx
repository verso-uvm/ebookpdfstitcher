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6DC0"/>
    <a:srgbClr val="65AA00"/>
    <a:srgbClr val="003969"/>
    <a:srgbClr val="0092F7"/>
    <a:srgbClr val="AA0065"/>
    <a:srgbClr val="960059"/>
    <a:srgbClr val="860050"/>
    <a:srgbClr val="DA0082"/>
    <a:srgbClr val="920057"/>
    <a:srgbClr val="8A00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9" autoAdjust="0"/>
    <p:restoredTop sz="94660"/>
  </p:normalViewPr>
  <p:slideViewPr>
    <p:cSldViewPr snapToGrid="0">
      <p:cViewPr varScale="1">
        <p:scale>
          <a:sx n="93" d="100"/>
          <a:sy n="93" d="100"/>
        </p:scale>
        <p:origin x="67" y="16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riginal Article">
    <p:spTree>
      <p:nvGrpSpPr>
        <p:cNvPr id="1" name=""/>
        <p:cNvGrpSpPr/>
        <p:nvPr/>
      </p:nvGrpSpPr>
      <p:grpSpPr>
        <a:xfrm>
          <a:off x="0" y="0"/>
          <a:ext cx="0" cy="0"/>
          <a:chOff x="0" y="0"/>
          <a:chExt cx="0" cy="0"/>
        </a:xfrm>
      </p:grpSpPr>
      <p:sp>
        <p:nvSpPr>
          <p:cNvPr id="16" name="Flowchart: Stored Data 4">
            <a:extLst>
              <a:ext uri="{FF2B5EF4-FFF2-40B4-BE49-F238E27FC236}">
                <a16:creationId xmlns:a16="http://schemas.microsoft.com/office/drawing/2014/main" id="{6750A1AE-34CF-C798-885B-4AD2785F8297}"/>
              </a:ext>
            </a:extLst>
          </p:cNvPr>
          <p:cNvSpPr/>
          <p:nvPr userDrawn="1"/>
        </p:nvSpPr>
        <p:spPr>
          <a:xfrm rot="5400000">
            <a:off x="5288230" y="-4790379"/>
            <a:ext cx="1614236" cy="12203777"/>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9991"/>
              <a:gd name="connsiteX1" fmla="*/ 7048 w 10056"/>
              <a:gd name="connsiteY1" fmla="*/ 0 h 9991"/>
              <a:gd name="connsiteX2" fmla="*/ 6988 w 10056"/>
              <a:gd name="connsiteY2" fmla="*/ 9628 h 9991"/>
              <a:gd name="connsiteX3" fmla="*/ 10056 w 10056"/>
              <a:gd name="connsiteY3" fmla="*/ 9987 h 9991"/>
              <a:gd name="connsiteX4" fmla="*/ 129 w 10056"/>
              <a:gd name="connsiteY4" fmla="*/ 9991 h 9991"/>
              <a:gd name="connsiteX5" fmla="*/ 0 w 10056"/>
              <a:gd name="connsiteY5" fmla="*/ 4 h 9991"/>
              <a:gd name="connsiteX0" fmla="*/ 0 w 10000"/>
              <a:gd name="connsiteY0" fmla="*/ 4 h 9996"/>
              <a:gd name="connsiteX1" fmla="*/ 7009 w 10000"/>
              <a:gd name="connsiteY1" fmla="*/ 0 h 9996"/>
              <a:gd name="connsiteX2" fmla="*/ 6949 w 10000"/>
              <a:gd name="connsiteY2" fmla="*/ 9637 h 9996"/>
              <a:gd name="connsiteX3" fmla="*/ 10000 w 10000"/>
              <a:gd name="connsiteY3" fmla="*/ 9996 h 9996"/>
              <a:gd name="connsiteX4" fmla="*/ 128 w 10000"/>
              <a:gd name="connsiteY4" fmla="*/ 9992 h 9996"/>
              <a:gd name="connsiteX5" fmla="*/ 0 w 10000"/>
              <a:gd name="connsiteY5" fmla="*/ 4 h 9996"/>
              <a:gd name="connsiteX0" fmla="*/ 0 w 10000"/>
              <a:gd name="connsiteY0" fmla="*/ 4 h 10000"/>
              <a:gd name="connsiteX1" fmla="*/ 7009 w 10000"/>
              <a:gd name="connsiteY1" fmla="*/ 0 h 10000"/>
              <a:gd name="connsiteX2" fmla="*/ 6949 w 10000"/>
              <a:gd name="connsiteY2" fmla="*/ 9641 h 10000"/>
              <a:gd name="connsiteX3" fmla="*/ 10000 w 10000"/>
              <a:gd name="connsiteY3" fmla="*/ 10000 h 10000"/>
              <a:gd name="connsiteX4" fmla="*/ 128 w 10000"/>
              <a:gd name="connsiteY4" fmla="*/ 9996 h 10000"/>
              <a:gd name="connsiteX5" fmla="*/ 0 w 10000"/>
              <a:gd name="connsiteY5" fmla="*/ 4 h 10000"/>
              <a:gd name="connsiteX0" fmla="*/ 0 w 10000"/>
              <a:gd name="connsiteY0" fmla="*/ 4 h 10000"/>
              <a:gd name="connsiteX1" fmla="*/ 7009 w 10000"/>
              <a:gd name="connsiteY1" fmla="*/ 0 h 10000"/>
              <a:gd name="connsiteX2" fmla="*/ 6949 w 10000"/>
              <a:gd name="connsiteY2" fmla="*/ 9641 h 10000"/>
              <a:gd name="connsiteX3" fmla="*/ 10000 w 10000"/>
              <a:gd name="connsiteY3" fmla="*/ 10000 h 10000"/>
              <a:gd name="connsiteX4" fmla="*/ 128 w 10000"/>
              <a:gd name="connsiteY4" fmla="*/ 9996 h 10000"/>
              <a:gd name="connsiteX5" fmla="*/ 0 w 10000"/>
              <a:gd name="connsiteY5" fmla="*/ 4 h 10000"/>
              <a:gd name="connsiteX0" fmla="*/ 0 w 10000"/>
              <a:gd name="connsiteY0" fmla="*/ 4 h 10000"/>
              <a:gd name="connsiteX1" fmla="*/ 7009 w 10000"/>
              <a:gd name="connsiteY1" fmla="*/ 0 h 10000"/>
              <a:gd name="connsiteX2" fmla="*/ 6949 w 10000"/>
              <a:gd name="connsiteY2" fmla="*/ 9641 h 10000"/>
              <a:gd name="connsiteX3" fmla="*/ 10000 w 10000"/>
              <a:gd name="connsiteY3" fmla="*/ 10000 h 10000"/>
              <a:gd name="connsiteX4" fmla="*/ 128 w 10000"/>
              <a:gd name="connsiteY4" fmla="*/ 9996 h 10000"/>
              <a:gd name="connsiteX5" fmla="*/ 0 w 10000"/>
              <a:gd name="connsiteY5" fmla="*/ 4 h 10000"/>
              <a:gd name="connsiteX0" fmla="*/ 0 w 10000"/>
              <a:gd name="connsiteY0" fmla="*/ 4 h 10004"/>
              <a:gd name="connsiteX1" fmla="*/ 7009 w 10000"/>
              <a:gd name="connsiteY1" fmla="*/ 0 h 10004"/>
              <a:gd name="connsiteX2" fmla="*/ 6949 w 10000"/>
              <a:gd name="connsiteY2" fmla="*/ 9641 h 10004"/>
              <a:gd name="connsiteX3" fmla="*/ 10000 w 10000"/>
              <a:gd name="connsiteY3" fmla="*/ 10000 h 10004"/>
              <a:gd name="connsiteX4" fmla="*/ 128 w 10000"/>
              <a:gd name="connsiteY4" fmla="*/ 10004 h 10004"/>
              <a:gd name="connsiteX5" fmla="*/ 0 w 10000"/>
              <a:gd name="connsiteY5" fmla="*/ 4 h 1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4">
                <a:moveTo>
                  <a:pt x="0" y="4"/>
                </a:moveTo>
                <a:lnTo>
                  <a:pt x="7009" y="0"/>
                </a:lnTo>
                <a:cubicBezTo>
                  <a:pt x="6847" y="1556"/>
                  <a:pt x="6821" y="9283"/>
                  <a:pt x="6949" y="9641"/>
                </a:cubicBezTo>
                <a:cubicBezTo>
                  <a:pt x="6923" y="9843"/>
                  <a:pt x="8314" y="10000"/>
                  <a:pt x="10000" y="10000"/>
                </a:cubicBezTo>
                <a:lnTo>
                  <a:pt x="128" y="10004"/>
                </a:lnTo>
                <a:cubicBezTo>
                  <a:pt x="97" y="8408"/>
                  <a:pt x="98" y="1073"/>
                  <a:pt x="0" y="4"/>
                </a:cubicBezTo>
                <a:close/>
              </a:path>
            </a:pathLst>
          </a:custGeom>
          <a:solidFill>
            <a:srgbClr val="0092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
        <p:nvSpPr>
          <p:cNvPr id="5" name="Flowchart: Stored Data 4">
            <a:extLst>
              <a:ext uri="{FF2B5EF4-FFF2-40B4-BE49-F238E27FC236}">
                <a16:creationId xmlns:a16="http://schemas.microsoft.com/office/drawing/2014/main" id="{D150C2D2-09E4-F78B-7FA6-F42DD5FA59F4}"/>
              </a:ext>
            </a:extLst>
          </p:cNvPr>
          <p:cNvSpPr/>
          <p:nvPr userDrawn="1"/>
        </p:nvSpPr>
        <p:spPr>
          <a:xfrm rot="5400000">
            <a:off x="5283465" y="-5325515"/>
            <a:ext cx="1614236" cy="1221477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0 h 9996"/>
              <a:gd name="connsiteX1" fmla="*/ 7001 w 10056"/>
              <a:gd name="connsiteY1" fmla="*/ 1 h 9996"/>
              <a:gd name="connsiteX2" fmla="*/ 6988 w 10056"/>
              <a:gd name="connsiteY2" fmla="*/ 9624 h 9996"/>
              <a:gd name="connsiteX3" fmla="*/ 10056 w 10056"/>
              <a:gd name="connsiteY3" fmla="*/ 9983 h 9996"/>
              <a:gd name="connsiteX4" fmla="*/ 62 w 10056"/>
              <a:gd name="connsiteY4" fmla="*/ 9996 h 9996"/>
              <a:gd name="connsiteX5" fmla="*/ 0 w 10056"/>
              <a:gd name="connsiteY5" fmla="*/ 0 h 9996"/>
              <a:gd name="connsiteX0" fmla="*/ 0 w 10000"/>
              <a:gd name="connsiteY0" fmla="*/ 2 h 10002"/>
              <a:gd name="connsiteX1" fmla="*/ 6962 w 10000"/>
              <a:gd name="connsiteY1" fmla="*/ 0 h 10002"/>
              <a:gd name="connsiteX2" fmla="*/ 6949 w 10000"/>
              <a:gd name="connsiteY2" fmla="*/ 9630 h 10002"/>
              <a:gd name="connsiteX3" fmla="*/ 10000 w 10000"/>
              <a:gd name="connsiteY3" fmla="*/ 9989 h 10002"/>
              <a:gd name="connsiteX4" fmla="*/ 62 w 10000"/>
              <a:gd name="connsiteY4" fmla="*/ 10002 h 10002"/>
              <a:gd name="connsiteX5" fmla="*/ 0 w 10000"/>
              <a:gd name="connsiteY5" fmla="*/ 2 h 10002"/>
              <a:gd name="connsiteX0" fmla="*/ 0 w 10000"/>
              <a:gd name="connsiteY0" fmla="*/ 4 h 10004"/>
              <a:gd name="connsiteX1" fmla="*/ 6927 w 10000"/>
              <a:gd name="connsiteY1" fmla="*/ 0 h 10004"/>
              <a:gd name="connsiteX2" fmla="*/ 6949 w 10000"/>
              <a:gd name="connsiteY2" fmla="*/ 9632 h 10004"/>
              <a:gd name="connsiteX3" fmla="*/ 10000 w 10000"/>
              <a:gd name="connsiteY3" fmla="*/ 9991 h 10004"/>
              <a:gd name="connsiteX4" fmla="*/ 62 w 10000"/>
              <a:gd name="connsiteY4" fmla="*/ 10004 h 10004"/>
              <a:gd name="connsiteX5" fmla="*/ 0 w 10000"/>
              <a:gd name="connsiteY5" fmla="*/ 4 h 10004"/>
              <a:gd name="connsiteX0" fmla="*/ 0 w 10000"/>
              <a:gd name="connsiteY0" fmla="*/ 4 h 10004"/>
              <a:gd name="connsiteX1" fmla="*/ 6927 w 10000"/>
              <a:gd name="connsiteY1" fmla="*/ 0 h 10004"/>
              <a:gd name="connsiteX2" fmla="*/ 6949 w 10000"/>
              <a:gd name="connsiteY2" fmla="*/ 9632 h 10004"/>
              <a:gd name="connsiteX3" fmla="*/ 10000 w 10000"/>
              <a:gd name="connsiteY3" fmla="*/ 9991 h 10004"/>
              <a:gd name="connsiteX4" fmla="*/ 62 w 10000"/>
              <a:gd name="connsiteY4" fmla="*/ 10004 h 10004"/>
              <a:gd name="connsiteX5" fmla="*/ 0 w 10000"/>
              <a:gd name="connsiteY5" fmla="*/ 4 h 1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4">
                <a:moveTo>
                  <a:pt x="0" y="4"/>
                </a:moveTo>
                <a:lnTo>
                  <a:pt x="6927" y="0"/>
                </a:lnTo>
                <a:cubicBezTo>
                  <a:pt x="6894" y="1547"/>
                  <a:pt x="6891" y="9283"/>
                  <a:pt x="6949" y="9632"/>
                </a:cubicBezTo>
                <a:cubicBezTo>
                  <a:pt x="6923" y="9834"/>
                  <a:pt x="8645" y="9997"/>
                  <a:pt x="10000" y="9991"/>
                </a:cubicBezTo>
                <a:lnTo>
                  <a:pt x="62" y="10004"/>
                </a:lnTo>
                <a:cubicBezTo>
                  <a:pt x="31" y="8409"/>
                  <a:pt x="98" y="1072"/>
                  <a:pt x="0" y="4"/>
                </a:cubicBezTo>
                <a:close/>
              </a:path>
            </a:pathLst>
          </a:custGeom>
          <a:solidFill>
            <a:srgbClr val="003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p:cNvSpPr/>
          <p:nvPr userDrawn="1"/>
        </p:nvSpPr>
        <p:spPr>
          <a:xfrm>
            <a:off x="7489445" y="5672093"/>
            <a:ext cx="4708523" cy="421061"/>
          </a:xfrm>
          <a:prstGeom prst="rect">
            <a:avLst/>
          </a:prstGeom>
          <a:gradFill flip="none" rotWithShape="1">
            <a:gsLst>
              <a:gs pos="0">
                <a:srgbClr val="AA0065">
                  <a:shade val="30000"/>
                  <a:satMod val="115000"/>
                </a:srgbClr>
              </a:gs>
              <a:gs pos="50000">
                <a:srgbClr val="AA0065">
                  <a:shade val="67500"/>
                  <a:satMod val="115000"/>
                </a:srgbClr>
              </a:gs>
              <a:gs pos="100000">
                <a:srgbClr val="AA0065">
                  <a:shade val="100000"/>
                  <a:satMod val="115000"/>
                </a:srgb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3" name="Group 12"/>
          <p:cNvGrpSpPr/>
          <p:nvPr userDrawn="1"/>
        </p:nvGrpSpPr>
        <p:grpSpPr>
          <a:xfrm>
            <a:off x="7637330" y="6112457"/>
            <a:ext cx="4174624" cy="723275"/>
            <a:chOff x="7646796" y="6098813"/>
            <a:chExt cx="4174624" cy="723275"/>
          </a:xfrm>
        </p:grpSpPr>
        <p:pic>
          <p:nvPicPr>
            <p:cNvPr id="14" name="Picture 10" descr="LOGO_IPNA_Blu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46796" y="6186597"/>
              <a:ext cx="581637" cy="58163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2"/>
            <p:cNvSpPr>
              <a:spLocks noChangeArrowheads="1"/>
            </p:cNvSpPr>
            <p:nvPr/>
          </p:nvSpPr>
          <p:spPr bwMode="auto">
            <a:xfrm>
              <a:off x="8208157" y="6098813"/>
              <a:ext cx="3613263"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1" i="0" u="none" strike="noStrike" cap="none" normalizeH="0" baseline="0" dirty="0">
                  <a:ln>
                    <a:noFill/>
                  </a:ln>
                  <a:solidFill>
                    <a:srgbClr val="296DC0"/>
                  </a:solidFill>
                  <a:effectLst/>
                  <a:latin typeface="Arial" panose="020B0604020202020204" pitchFamily="34" charset="0"/>
                  <a:ea typeface="Calibri" panose="020F0502020204030204" pitchFamily="34" charset="0"/>
                  <a:cs typeface="Calibri" panose="020F0502020204030204" pitchFamily="34" charset="0"/>
                </a:rPr>
                <a:t>Pediatric Nephrology</a:t>
              </a:r>
              <a:endParaRPr kumimoji="0" lang="en-GB"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Journal of the </a:t>
              </a:r>
              <a:br>
                <a:rPr kumimoji="0" lang="en-GB" altLang="en-US"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br>
              <a:r>
                <a:rPr kumimoji="0" lang="en-GB" altLang="en-US" sz="12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International Pediatric Nephrology Association</a:t>
              </a:r>
              <a:endParaRPr kumimoji="0" lang="en-GB" altLang="en-US" sz="1200" b="0" i="0" u="none" strike="noStrike" cap="none" normalizeH="0" baseline="0" dirty="0">
                <a:ln>
                  <a:noFill/>
                </a:ln>
                <a:solidFill>
                  <a:schemeClr val="tx1"/>
                </a:solidFill>
                <a:effectLst/>
                <a:latin typeface="Arial" panose="020B0604020202020204" pitchFamily="34" charset="0"/>
              </a:endParaRPr>
            </a:p>
          </p:txBody>
        </p:sp>
      </p:grpSp>
      <p:sp>
        <p:nvSpPr>
          <p:cNvPr id="37" name="Rectangle 36">
            <a:extLst>
              <a:ext uri="{FF2B5EF4-FFF2-40B4-BE49-F238E27FC236}">
                <a16:creationId xmlns:a16="http://schemas.microsoft.com/office/drawing/2014/main" id="{FB861B61-643E-7D14-D771-2A7BF1205723}"/>
              </a:ext>
            </a:extLst>
          </p:cNvPr>
          <p:cNvSpPr/>
          <p:nvPr userDrawn="1"/>
        </p:nvSpPr>
        <p:spPr>
          <a:xfrm>
            <a:off x="10265756" y="-25248"/>
            <a:ext cx="1935480" cy="1116814"/>
          </a:xfrm>
          <a:prstGeom prst="rect">
            <a:avLst/>
          </a:prstGeom>
          <a:solidFill>
            <a:srgbClr val="65A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oup 33">
            <a:extLst>
              <a:ext uri="{FF2B5EF4-FFF2-40B4-BE49-F238E27FC236}">
                <a16:creationId xmlns:a16="http://schemas.microsoft.com/office/drawing/2014/main" id="{49043F73-8834-4114-AD27-24C1BD0B05A6}"/>
              </a:ext>
            </a:extLst>
          </p:cNvPr>
          <p:cNvGrpSpPr/>
          <p:nvPr userDrawn="1"/>
        </p:nvGrpSpPr>
        <p:grpSpPr>
          <a:xfrm>
            <a:off x="10507067" y="138710"/>
            <a:ext cx="1613769" cy="780217"/>
            <a:chOff x="10446107" y="176810"/>
            <a:chExt cx="1613769" cy="780217"/>
          </a:xfrm>
        </p:grpSpPr>
        <p:sp>
          <p:nvSpPr>
            <p:cNvPr id="19" name="TextBox 18"/>
            <p:cNvSpPr txBox="1"/>
            <p:nvPr/>
          </p:nvSpPr>
          <p:spPr>
            <a:xfrm>
              <a:off x="10618401" y="433807"/>
              <a:ext cx="1441475" cy="523220"/>
            </a:xfrm>
            <a:prstGeom prst="rect">
              <a:avLst/>
            </a:prstGeom>
            <a:noFill/>
          </p:spPr>
          <p:txBody>
            <a:bodyPr wrap="square" rtlCol="0">
              <a:spAutoFit/>
            </a:bodyPr>
            <a:lstStyle/>
            <a:p>
              <a:r>
                <a:rPr lang="en-GB" sz="2800" dirty="0">
                  <a:solidFill>
                    <a:schemeClr val="bg1"/>
                  </a:solidFill>
                </a:rPr>
                <a:t>Article</a:t>
              </a:r>
            </a:p>
          </p:txBody>
        </p:sp>
        <p:sp>
          <p:nvSpPr>
            <p:cNvPr id="18" name="TextBox 17"/>
            <p:cNvSpPr txBox="1"/>
            <p:nvPr/>
          </p:nvSpPr>
          <p:spPr>
            <a:xfrm>
              <a:off x="10446107" y="176810"/>
              <a:ext cx="1593052" cy="523220"/>
            </a:xfrm>
            <a:prstGeom prst="rect">
              <a:avLst/>
            </a:prstGeom>
            <a:noFill/>
          </p:spPr>
          <p:txBody>
            <a:bodyPr wrap="square" rtlCol="0">
              <a:spAutoFit/>
            </a:bodyPr>
            <a:lstStyle/>
            <a:p>
              <a:r>
                <a:rPr lang="en-GB" sz="2800" dirty="0">
                  <a:solidFill>
                    <a:schemeClr val="bg1"/>
                  </a:solidFill>
                </a:rPr>
                <a:t>Original</a:t>
              </a:r>
            </a:p>
          </p:txBody>
        </p:sp>
      </p:grpSp>
      <p:sp>
        <p:nvSpPr>
          <p:cNvPr id="29" name="Flowchart: Stored Data 4">
            <a:extLst>
              <a:ext uri="{FF2B5EF4-FFF2-40B4-BE49-F238E27FC236}">
                <a16:creationId xmlns:a16="http://schemas.microsoft.com/office/drawing/2014/main" id="{17034CCF-1EDD-D498-AB89-09358AFA3492}"/>
              </a:ext>
            </a:extLst>
          </p:cNvPr>
          <p:cNvSpPr/>
          <p:nvPr userDrawn="1"/>
        </p:nvSpPr>
        <p:spPr>
          <a:xfrm rot="16200000" flipV="1">
            <a:off x="2885446" y="2269341"/>
            <a:ext cx="1695596" cy="75124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9991"/>
              <a:gd name="connsiteX1" fmla="*/ 7048 w 10056"/>
              <a:gd name="connsiteY1" fmla="*/ 0 h 9991"/>
              <a:gd name="connsiteX2" fmla="*/ 6988 w 10056"/>
              <a:gd name="connsiteY2" fmla="*/ 9628 h 9991"/>
              <a:gd name="connsiteX3" fmla="*/ 10056 w 10056"/>
              <a:gd name="connsiteY3" fmla="*/ 9987 h 9991"/>
              <a:gd name="connsiteX4" fmla="*/ 129 w 10056"/>
              <a:gd name="connsiteY4" fmla="*/ 9991 h 9991"/>
              <a:gd name="connsiteX5" fmla="*/ 0 w 10056"/>
              <a:gd name="connsiteY5" fmla="*/ 4 h 9991"/>
              <a:gd name="connsiteX0" fmla="*/ 0 w 10000"/>
              <a:gd name="connsiteY0" fmla="*/ 0 h 9996"/>
              <a:gd name="connsiteX1" fmla="*/ 6799 w 10000"/>
              <a:gd name="connsiteY1" fmla="*/ 3842 h 9996"/>
              <a:gd name="connsiteX2" fmla="*/ 6949 w 10000"/>
              <a:gd name="connsiteY2" fmla="*/ 9633 h 9996"/>
              <a:gd name="connsiteX3" fmla="*/ 10000 w 10000"/>
              <a:gd name="connsiteY3" fmla="*/ 9992 h 9996"/>
              <a:gd name="connsiteX4" fmla="*/ 128 w 10000"/>
              <a:gd name="connsiteY4" fmla="*/ 9996 h 9996"/>
              <a:gd name="connsiteX5" fmla="*/ 0 w 10000"/>
              <a:gd name="connsiteY5" fmla="*/ 0 h 9996"/>
              <a:gd name="connsiteX0" fmla="*/ 0 w 9895"/>
              <a:gd name="connsiteY0" fmla="*/ 11 h 6156"/>
              <a:gd name="connsiteX1" fmla="*/ 6694 w 9895"/>
              <a:gd name="connsiteY1" fmla="*/ 0 h 6156"/>
              <a:gd name="connsiteX2" fmla="*/ 6844 w 9895"/>
              <a:gd name="connsiteY2" fmla="*/ 5793 h 6156"/>
              <a:gd name="connsiteX3" fmla="*/ 9895 w 9895"/>
              <a:gd name="connsiteY3" fmla="*/ 6152 h 6156"/>
              <a:gd name="connsiteX4" fmla="*/ 23 w 9895"/>
              <a:gd name="connsiteY4" fmla="*/ 6156 h 6156"/>
              <a:gd name="connsiteX5" fmla="*/ 0 w 9895"/>
              <a:gd name="connsiteY5" fmla="*/ 11 h 6156"/>
              <a:gd name="connsiteX0" fmla="*/ 0 w 11007"/>
              <a:gd name="connsiteY0" fmla="*/ 7 h 10000"/>
              <a:gd name="connsiteX1" fmla="*/ 7772 w 11007"/>
              <a:gd name="connsiteY1" fmla="*/ 0 h 10000"/>
              <a:gd name="connsiteX2" fmla="*/ 7924 w 11007"/>
              <a:gd name="connsiteY2" fmla="*/ 9410 h 10000"/>
              <a:gd name="connsiteX3" fmla="*/ 11007 w 11007"/>
              <a:gd name="connsiteY3" fmla="*/ 9994 h 10000"/>
              <a:gd name="connsiteX4" fmla="*/ 1030 w 11007"/>
              <a:gd name="connsiteY4" fmla="*/ 10000 h 10000"/>
              <a:gd name="connsiteX5" fmla="*/ 0 w 11007"/>
              <a:gd name="connsiteY5" fmla="*/ 7 h 10000"/>
              <a:gd name="connsiteX0" fmla="*/ 0 w 11007"/>
              <a:gd name="connsiteY0" fmla="*/ 7 h 10000"/>
              <a:gd name="connsiteX1" fmla="*/ 7772 w 11007"/>
              <a:gd name="connsiteY1" fmla="*/ 0 h 10000"/>
              <a:gd name="connsiteX2" fmla="*/ 7924 w 11007"/>
              <a:gd name="connsiteY2" fmla="*/ 9410 h 10000"/>
              <a:gd name="connsiteX3" fmla="*/ 11007 w 11007"/>
              <a:gd name="connsiteY3" fmla="*/ 9994 h 10000"/>
              <a:gd name="connsiteX4" fmla="*/ 23 w 11007"/>
              <a:gd name="connsiteY4" fmla="*/ 10000 h 10000"/>
              <a:gd name="connsiteX5" fmla="*/ 0 w 11007"/>
              <a:gd name="connsiteY5" fmla="*/ 7 h 10000"/>
              <a:gd name="connsiteX0" fmla="*/ 76 w 10988"/>
              <a:gd name="connsiteY0" fmla="*/ 45 h 10000"/>
              <a:gd name="connsiteX1" fmla="*/ 7753 w 10988"/>
              <a:gd name="connsiteY1" fmla="*/ 0 h 10000"/>
              <a:gd name="connsiteX2" fmla="*/ 7905 w 10988"/>
              <a:gd name="connsiteY2" fmla="*/ 9410 h 10000"/>
              <a:gd name="connsiteX3" fmla="*/ 10988 w 10988"/>
              <a:gd name="connsiteY3" fmla="*/ 9994 h 10000"/>
              <a:gd name="connsiteX4" fmla="*/ 4 w 10988"/>
              <a:gd name="connsiteY4" fmla="*/ 10000 h 10000"/>
              <a:gd name="connsiteX5" fmla="*/ 76 w 10988"/>
              <a:gd name="connsiteY5" fmla="*/ 45 h 10000"/>
              <a:gd name="connsiteX0" fmla="*/ 16 w 10988"/>
              <a:gd name="connsiteY0" fmla="*/ 20 h 10000"/>
              <a:gd name="connsiteX1" fmla="*/ 7753 w 10988"/>
              <a:gd name="connsiteY1" fmla="*/ 0 h 10000"/>
              <a:gd name="connsiteX2" fmla="*/ 7905 w 10988"/>
              <a:gd name="connsiteY2" fmla="*/ 9410 h 10000"/>
              <a:gd name="connsiteX3" fmla="*/ 10988 w 10988"/>
              <a:gd name="connsiteY3" fmla="*/ 9994 h 10000"/>
              <a:gd name="connsiteX4" fmla="*/ 4 w 10988"/>
              <a:gd name="connsiteY4" fmla="*/ 10000 h 10000"/>
              <a:gd name="connsiteX5" fmla="*/ 16 w 10988"/>
              <a:gd name="connsiteY5" fmla="*/ 20 h 10000"/>
              <a:gd name="connsiteX0" fmla="*/ 16 w 10988"/>
              <a:gd name="connsiteY0" fmla="*/ 0 h 9980"/>
              <a:gd name="connsiteX1" fmla="*/ 7753 w 10988"/>
              <a:gd name="connsiteY1" fmla="*/ 0 h 9980"/>
              <a:gd name="connsiteX2" fmla="*/ 7905 w 10988"/>
              <a:gd name="connsiteY2" fmla="*/ 9390 h 9980"/>
              <a:gd name="connsiteX3" fmla="*/ 10988 w 10988"/>
              <a:gd name="connsiteY3" fmla="*/ 9974 h 9980"/>
              <a:gd name="connsiteX4" fmla="*/ 4 w 10988"/>
              <a:gd name="connsiteY4" fmla="*/ 9980 h 9980"/>
              <a:gd name="connsiteX5" fmla="*/ 16 w 10988"/>
              <a:gd name="connsiteY5" fmla="*/ 0 h 9980"/>
              <a:gd name="connsiteX0" fmla="*/ 0 w 9985"/>
              <a:gd name="connsiteY0" fmla="*/ 0 h 9994"/>
              <a:gd name="connsiteX1" fmla="*/ 7041 w 9985"/>
              <a:gd name="connsiteY1" fmla="*/ 0 h 9994"/>
              <a:gd name="connsiteX2" fmla="*/ 7179 w 9985"/>
              <a:gd name="connsiteY2" fmla="*/ 9409 h 9994"/>
              <a:gd name="connsiteX3" fmla="*/ 9985 w 9985"/>
              <a:gd name="connsiteY3" fmla="*/ 9994 h 9994"/>
              <a:gd name="connsiteX4" fmla="*/ 11 w 9985"/>
              <a:gd name="connsiteY4" fmla="*/ 9987 h 9994"/>
              <a:gd name="connsiteX5" fmla="*/ 0 w 9985"/>
              <a:gd name="connsiteY5" fmla="*/ 0 h 9994"/>
              <a:gd name="connsiteX0" fmla="*/ 0 w 10000"/>
              <a:gd name="connsiteY0" fmla="*/ 0 h 10000"/>
              <a:gd name="connsiteX1" fmla="*/ 7052 w 10000"/>
              <a:gd name="connsiteY1" fmla="*/ 0 h 10000"/>
              <a:gd name="connsiteX2" fmla="*/ 7190 w 10000"/>
              <a:gd name="connsiteY2" fmla="*/ 9415 h 10000"/>
              <a:gd name="connsiteX3" fmla="*/ 10000 w 10000"/>
              <a:gd name="connsiteY3" fmla="*/ 10000 h 10000"/>
              <a:gd name="connsiteX4" fmla="*/ 11 w 10000"/>
              <a:gd name="connsiteY4" fmla="*/ 9996 h 10000"/>
              <a:gd name="connsiteX5" fmla="*/ 0 w 10000"/>
              <a:gd name="connsiteY5" fmla="*/ 0 h 10000"/>
              <a:gd name="connsiteX0" fmla="*/ 35 w 10035"/>
              <a:gd name="connsiteY0" fmla="*/ 0 h 10009"/>
              <a:gd name="connsiteX1" fmla="*/ 7087 w 10035"/>
              <a:gd name="connsiteY1" fmla="*/ 0 h 10009"/>
              <a:gd name="connsiteX2" fmla="*/ 7225 w 10035"/>
              <a:gd name="connsiteY2" fmla="*/ 9415 h 10009"/>
              <a:gd name="connsiteX3" fmla="*/ 10035 w 10035"/>
              <a:gd name="connsiteY3" fmla="*/ 10000 h 10009"/>
              <a:gd name="connsiteX4" fmla="*/ 3 w 10035"/>
              <a:gd name="connsiteY4" fmla="*/ 10009 h 10009"/>
              <a:gd name="connsiteX5" fmla="*/ 35 w 10035"/>
              <a:gd name="connsiteY5" fmla="*/ 0 h 10009"/>
              <a:gd name="connsiteX0" fmla="*/ 0 w 10000"/>
              <a:gd name="connsiteY0" fmla="*/ 0 h 10000"/>
              <a:gd name="connsiteX1" fmla="*/ 7052 w 10000"/>
              <a:gd name="connsiteY1" fmla="*/ 0 h 10000"/>
              <a:gd name="connsiteX2" fmla="*/ 7190 w 10000"/>
              <a:gd name="connsiteY2" fmla="*/ 9415 h 10000"/>
              <a:gd name="connsiteX3" fmla="*/ 10000 w 10000"/>
              <a:gd name="connsiteY3" fmla="*/ 10000 h 10000"/>
              <a:gd name="connsiteX4" fmla="*/ 66 w 10000"/>
              <a:gd name="connsiteY4" fmla="*/ 9989 h 10000"/>
              <a:gd name="connsiteX5" fmla="*/ 0 w 10000"/>
              <a:gd name="connsiteY5" fmla="*/ 0 h 10000"/>
              <a:gd name="connsiteX0" fmla="*/ 0 w 10000"/>
              <a:gd name="connsiteY0" fmla="*/ 0 h 10002"/>
              <a:gd name="connsiteX1" fmla="*/ 7052 w 10000"/>
              <a:gd name="connsiteY1" fmla="*/ 0 h 10002"/>
              <a:gd name="connsiteX2" fmla="*/ 7190 w 10000"/>
              <a:gd name="connsiteY2" fmla="*/ 9415 h 10002"/>
              <a:gd name="connsiteX3" fmla="*/ 10000 w 10000"/>
              <a:gd name="connsiteY3" fmla="*/ 10000 h 10002"/>
              <a:gd name="connsiteX4" fmla="*/ 23 w 10000"/>
              <a:gd name="connsiteY4" fmla="*/ 10002 h 10002"/>
              <a:gd name="connsiteX5" fmla="*/ 0 w 10000"/>
              <a:gd name="connsiteY5" fmla="*/ 0 h 10002"/>
              <a:gd name="connsiteX0" fmla="*/ 164 w 10164"/>
              <a:gd name="connsiteY0" fmla="*/ 0 h 10000"/>
              <a:gd name="connsiteX1" fmla="*/ 7216 w 10164"/>
              <a:gd name="connsiteY1" fmla="*/ 0 h 10000"/>
              <a:gd name="connsiteX2" fmla="*/ 7354 w 10164"/>
              <a:gd name="connsiteY2" fmla="*/ 9415 h 10000"/>
              <a:gd name="connsiteX3" fmla="*/ 10164 w 10164"/>
              <a:gd name="connsiteY3" fmla="*/ 10000 h 10000"/>
              <a:gd name="connsiteX4" fmla="*/ 2 w 10164"/>
              <a:gd name="connsiteY4" fmla="*/ 9999 h 10000"/>
              <a:gd name="connsiteX5" fmla="*/ 164 w 10164"/>
              <a:gd name="connsiteY5" fmla="*/ 0 h 10000"/>
              <a:gd name="connsiteX0" fmla="*/ 163 w 10163"/>
              <a:gd name="connsiteY0" fmla="*/ 0 h 10000"/>
              <a:gd name="connsiteX1" fmla="*/ 7215 w 10163"/>
              <a:gd name="connsiteY1" fmla="*/ 0 h 10000"/>
              <a:gd name="connsiteX2" fmla="*/ 7353 w 10163"/>
              <a:gd name="connsiteY2" fmla="*/ 9415 h 10000"/>
              <a:gd name="connsiteX3" fmla="*/ 10163 w 10163"/>
              <a:gd name="connsiteY3" fmla="*/ 10000 h 10000"/>
              <a:gd name="connsiteX4" fmla="*/ 1 w 10163"/>
              <a:gd name="connsiteY4" fmla="*/ 9999 h 10000"/>
              <a:gd name="connsiteX5" fmla="*/ 163 w 10163"/>
              <a:gd name="connsiteY5" fmla="*/ 0 h 10000"/>
              <a:gd name="connsiteX0" fmla="*/ 0 w 10174"/>
              <a:gd name="connsiteY0" fmla="*/ 0 h 10000"/>
              <a:gd name="connsiteX1" fmla="*/ 7226 w 10174"/>
              <a:gd name="connsiteY1" fmla="*/ 0 h 10000"/>
              <a:gd name="connsiteX2" fmla="*/ 7364 w 10174"/>
              <a:gd name="connsiteY2" fmla="*/ 9415 h 10000"/>
              <a:gd name="connsiteX3" fmla="*/ 10174 w 10174"/>
              <a:gd name="connsiteY3" fmla="*/ 10000 h 10000"/>
              <a:gd name="connsiteX4" fmla="*/ 12 w 10174"/>
              <a:gd name="connsiteY4" fmla="*/ 9999 h 10000"/>
              <a:gd name="connsiteX5" fmla="*/ 0 w 10174"/>
              <a:gd name="connsiteY5" fmla="*/ 0 h 10000"/>
              <a:gd name="connsiteX0" fmla="*/ 0 w 10174"/>
              <a:gd name="connsiteY0" fmla="*/ 0 h 10000"/>
              <a:gd name="connsiteX1" fmla="*/ 7226 w 10174"/>
              <a:gd name="connsiteY1" fmla="*/ 0 h 10000"/>
              <a:gd name="connsiteX2" fmla="*/ 7364 w 10174"/>
              <a:gd name="connsiteY2" fmla="*/ 9415 h 10000"/>
              <a:gd name="connsiteX3" fmla="*/ 10174 w 10174"/>
              <a:gd name="connsiteY3" fmla="*/ 10000 h 10000"/>
              <a:gd name="connsiteX4" fmla="*/ 12 w 10174"/>
              <a:gd name="connsiteY4" fmla="*/ 9999 h 10000"/>
              <a:gd name="connsiteX5" fmla="*/ 0 w 10174"/>
              <a:gd name="connsiteY5" fmla="*/ 0 h 10000"/>
              <a:gd name="connsiteX0" fmla="*/ 0 w 10174"/>
              <a:gd name="connsiteY0" fmla="*/ 3 h 10003"/>
              <a:gd name="connsiteX1" fmla="*/ 7335 w 10174"/>
              <a:gd name="connsiteY1" fmla="*/ 0 h 10003"/>
              <a:gd name="connsiteX2" fmla="*/ 7364 w 10174"/>
              <a:gd name="connsiteY2" fmla="*/ 9418 h 10003"/>
              <a:gd name="connsiteX3" fmla="*/ 10174 w 10174"/>
              <a:gd name="connsiteY3" fmla="*/ 10003 h 10003"/>
              <a:gd name="connsiteX4" fmla="*/ 12 w 10174"/>
              <a:gd name="connsiteY4" fmla="*/ 10002 h 10003"/>
              <a:gd name="connsiteX5" fmla="*/ 0 w 10174"/>
              <a:gd name="connsiteY5" fmla="*/ 3 h 10003"/>
              <a:gd name="connsiteX0" fmla="*/ 0 w 10174"/>
              <a:gd name="connsiteY0" fmla="*/ 6 h 10006"/>
              <a:gd name="connsiteX1" fmla="*/ 7346 w 10174"/>
              <a:gd name="connsiteY1" fmla="*/ 0 h 10006"/>
              <a:gd name="connsiteX2" fmla="*/ 7364 w 10174"/>
              <a:gd name="connsiteY2" fmla="*/ 9421 h 10006"/>
              <a:gd name="connsiteX3" fmla="*/ 10174 w 10174"/>
              <a:gd name="connsiteY3" fmla="*/ 10006 h 10006"/>
              <a:gd name="connsiteX4" fmla="*/ 12 w 10174"/>
              <a:gd name="connsiteY4" fmla="*/ 10005 h 10006"/>
              <a:gd name="connsiteX5" fmla="*/ 0 w 10174"/>
              <a:gd name="connsiteY5" fmla="*/ 6 h 10006"/>
              <a:gd name="connsiteX0" fmla="*/ 0 w 10174"/>
              <a:gd name="connsiteY0" fmla="*/ 6 h 10006"/>
              <a:gd name="connsiteX1" fmla="*/ 7346 w 10174"/>
              <a:gd name="connsiteY1" fmla="*/ 0 h 10006"/>
              <a:gd name="connsiteX2" fmla="*/ 7364 w 10174"/>
              <a:gd name="connsiteY2" fmla="*/ 9421 h 10006"/>
              <a:gd name="connsiteX3" fmla="*/ 10174 w 10174"/>
              <a:gd name="connsiteY3" fmla="*/ 10006 h 10006"/>
              <a:gd name="connsiteX4" fmla="*/ 12 w 10174"/>
              <a:gd name="connsiteY4" fmla="*/ 10005 h 10006"/>
              <a:gd name="connsiteX5" fmla="*/ 0 w 10174"/>
              <a:gd name="connsiteY5" fmla="*/ 6 h 10006"/>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0 w 9613"/>
              <a:gd name="connsiteY0" fmla="*/ 3 h 10009"/>
              <a:gd name="connsiteX1" fmla="*/ 6785 w 9613"/>
              <a:gd name="connsiteY1" fmla="*/ 0 h 10009"/>
              <a:gd name="connsiteX2" fmla="*/ 6803 w 9613"/>
              <a:gd name="connsiteY2" fmla="*/ 9424 h 10009"/>
              <a:gd name="connsiteX3" fmla="*/ 9613 w 9613"/>
              <a:gd name="connsiteY3" fmla="*/ 10009 h 10009"/>
              <a:gd name="connsiteX4" fmla="*/ 95 w 9613"/>
              <a:gd name="connsiteY4" fmla="*/ 9998 h 10009"/>
              <a:gd name="connsiteX5" fmla="*/ 0 w 9613"/>
              <a:gd name="connsiteY5" fmla="*/ 3 h 10009"/>
              <a:gd name="connsiteX0" fmla="*/ 0 w 10000"/>
              <a:gd name="connsiteY0" fmla="*/ 3 h 10000"/>
              <a:gd name="connsiteX1" fmla="*/ 7058 w 10000"/>
              <a:gd name="connsiteY1" fmla="*/ 0 h 10000"/>
              <a:gd name="connsiteX2" fmla="*/ 7077 w 10000"/>
              <a:gd name="connsiteY2" fmla="*/ 9416 h 10000"/>
              <a:gd name="connsiteX3" fmla="*/ 10000 w 10000"/>
              <a:gd name="connsiteY3" fmla="*/ 10000 h 10000"/>
              <a:gd name="connsiteX4" fmla="*/ 14 w 10000"/>
              <a:gd name="connsiteY4" fmla="*/ 9999 h 10000"/>
              <a:gd name="connsiteX5" fmla="*/ 0 w 10000"/>
              <a:gd name="connsiteY5" fmla="*/ 3 h 10000"/>
              <a:gd name="connsiteX0" fmla="*/ 51 w 10051"/>
              <a:gd name="connsiteY0" fmla="*/ 3 h 10028"/>
              <a:gd name="connsiteX1" fmla="*/ 7109 w 10051"/>
              <a:gd name="connsiteY1" fmla="*/ 0 h 10028"/>
              <a:gd name="connsiteX2" fmla="*/ 7128 w 10051"/>
              <a:gd name="connsiteY2" fmla="*/ 9416 h 10028"/>
              <a:gd name="connsiteX3" fmla="*/ 10051 w 10051"/>
              <a:gd name="connsiteY3" fmla="*/ 10000 h 10028"/>
              <a:gd name="connsiteX4" fmla="*/ 0 w 10051"/>
              <a:gd name="connsiteY4" fmla="*/ 10028 h 10028"/>
              <a:gd name="connsiteX5" fmla="*/ 51 w 10051"/>
              <a:gd name="connsiteY5" fmla="*/ 3 h 10028"/>
              <a:gd name="connsiteX0" fmla="*/ 0 w 10065"/>
              <a:gd name="connsiteY0" fmla="*/ 3 h 10028"/>
              <a:gd name="connsiteX1" fmla="*/ 7123 w 10065"/>
              <a:gd name="connsiteY1" fmla="*/ 0 h 10028"/>
              <a:gd name="connsiteX2" fmla="*/ 7142 w 10065"/>
              <a:gd name="connsiteY2" fmla="*/ 9416 h 10028"/>
              <a:gd name="connsiteX3" fmla="*/ 10065 w 10065"/>
              <a:gd name="connsiteY3" fmla="*/ 10000 h 10028"/>
              <a:gd name="connsiteX4" fmla="*/ 14 w 10065"/>
              <a:gd name="connsiteY4" fmla="*/ 10028 h 10028"/>
              <a:gd name="connsiteX5" fmla="*/ 0 w 10065"/>
              <a:gd name="connsiteY5" fmla="*/ 3 h 1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65" h="10028">
                <a:moveTo>
                  <a:pt x="0" y="3"/>
                </a:moveTo>
                <a:lnTo>
                  <a:pt x="7123" y="0"/>
                </a:lnTo>
                <a:cubicBezTo>
                  <a:pt x="7114" y="2528"/>
                  <a:pt x="7133" y="8825"/>
                  <a:pt x="7142" y="9416"/>
                </a:cubicBezTo>
                <a:cubicBezTo>
                  <a:pt x="7117" y="9743"/>
                  <a:pt x="8449" y="10000"/>
                  <a:pt x="10065" y="10000"/>
                </a:cubicBezTo>
                <a:lnTo>
                  <a:pt x="14" y="10028"/>
                </a:lnTo>
                <a:cubicBezTo>
                  <a:pt x="7" y="7430"/>
                  <a:pt x="15" y="1749"/>
                  <a:pt x="0" y="3"/>
                </a:cubicBezTo>
                <a:close/>
              </a:path>
            </a:pathLst>
          </a:custGeom>
          <a:solidFill>
            <a:srgbClr val="0092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50"/>
          </a:p>
        </p:txBody>
      </p:sp>
    </p:spTree>
    <p:extLst>
      <p:ext uri="{BB962C8B-B14F-4D97-AF65-F5344CB8AC3E}">
        <p14:creationId xmlns:p14="http://schemas.microsoft.com/office/powerpoint/2010/main" val="3655088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5" name="Flowchart: Stored Data 4">
            <a:extLst>
              <a:ext uri="{FF2B5EF4-FFF2-40B4-BE49-F238E27FC236}">
                <a16:creationId xmlns:a16="http://schemas.microsoft.com/office/drawing/2014/main" id="{D150C2D2-09E4-F78B-7FA6-F42DD5FA59F4}"/>
              </a:ext>
            </a:extLst>
          </p:cNvPr>
          <p:cNvSpPr/>
          <p:nvPr userDrawn="1"/>
        </p:nvSpPr>
        <p:spPr>
          <a:xfrm rot="5400000">
            <a:off x="5283465" y="-5325515"/>
            <a:ext cx="1614236" cy="1221477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0 h 9996"/>
              <a:gd name="connsiteX1" fmla="*/ 7001 w 10056"/>
              <a:gd name="connsiteY1" fmla="*/ 1 h 9996"/>
              <a:gd name="connsiteX2" fmla="*/ 6988 w 10056"/>
              <a:gd name="connsiteY2" fmla="*/ 9624 h 9996"/>
              <a:gd name="connsiteX3" fmla="*/ 10056 w 10056"/>
              <a:gd name="connsiteY3" fmla="*/ 9983 h 9996"/>
              <a:gd name="connsiteX4" fmla="*/ 62 w 10056"/>
              <a:gd name="connsiteY4" fmla="*/ 9996 h 9996"/>
              <a:gd name="connsiteX5" fmla="*/ 0 w 10056"/>
              <a:gd name="connsiteY5" fmla="*/ 0 h 9996"/>
              <a:gd name="connsiteX0" fmla="*/ 0 w 10000"/>
              <a:gd name="connsiteY0" fmla="*/ 2 h 10002"/>
              <a:gd name="connsiteX1" fmla="*/ 6962 w 10000"/>
              <a:gd name="connsiteY1" fmla="*/ 0 h 10002"/>
              <a:gd name="connsiteX2" fmla="*/ 6949 w 10000"/>
              <a:gd name="connsiteY2" fmla="*/ 9630 h 10002"/>
              <a:gd name="connsiteX3" fmla="*/ 10000 w 10000"/>
              <a:gd name="connsiteY3" fmla="*/ 9989 h 10002"/>
              <a:gd name="connsiteX4" fmla="*/ 62 w 10000"/>
              <a:gd name="connsiteY4" fmla="*/ 10002 h 10002"/>
              <a:gd name="connsiteX5" fmla="*/ 0 w 10000"/>
              <a:gd name="connsiteY5" fmla="*/ 2 h 10002"/>
              <a:gd name="connsiteX0" fmla="*/ 0 w 10000"/>
              <a:gd name="connsiteY0" fmla="*/ 4 h 10004"/>
              <a:gd name="connsiteX1" fmla="*/ 6927 w 10000"/>
              <a:gd name="connsiteY1" fmla="*/ 0 h 10004"/>
              <a:gd name="connsiteX2" fmla="*/ 6949 w 10000"/>
              <a:gd name="connsiteY2" fmla="*/ 9632 h 10004"/>
              <a:gd name="connsiteX3" fmla="*/ 10000 w 10000"/>
              <a:gd name="connsiteY3" fmla="*/ 9991 h 10004"/>
              <a:gd name="connsiteX4" fmla="*/ 62 w 10000"/>
              <a:gd name="connsiteY4" fmla="*/ 10004 h 10004"/>
              <a:gd name="connsiteX5" fmla="*/ 0 w 10000"/>
              <a:gd name="connsiteY5" fmla="*/ 4 h 10004"/>
              <a:gd name="connsiteX0" fmla="*/ 0 w 10000"/>
              <a:gd name="connsiteY0" fmla="*/ 4 h 10004"/>
              <a:gd name="connsiteX1" fmla="*/ 6927 w 10000"/>
              <a:gd name="connsiteY1" fmla="*/ 0 h 10004"/>
              <a:gd name="connsiteX2" fmla="*/ 6949 w 10000"/>
              <a:gd name="connsiteY2" fmla="*/ 9632 h 10004"/>
              <a:gd name="connsiteX3" fmla="*/ 10000 w 10000"/>
              <a:gd name="connsiteY3" fmla="*/ 9991 h 10004"/>
              <a:gd name="connsiteX4" fmla="*/ 62 w 10000"/>
              <a:gd name="connsiteY4" fmla="*/ 10004 h 10004"/>
              <a:gd name="connsiteX5" fmla="*/ 0 w 10000"/>
              <a:gd name="connsiteY5" fmla="*/ 4 h 1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4">
                <a:moveTo>
                  <a:pt x="0" y="4"/>
                </a:moveTo>
                <a:lnTo>
                  <a:pt x="6927" y="0"/>
                </a:lnTo>
                <a:cubicBezTo>
                  <a:pt x="6894" y="1547"/>
                  <a:pt x="6891" y="9283"/>
                  <a:pt x="6949" y="9632"/>
                </a:cubicBezTo>
                <a:cubicBezTo>
                  <a:pt x="6923" y="9834"/>
                  <a:pt x="8645" y="9997"/>
                  <a:pt x="10000" y="9991"/>
                </a:cubicBezTo>
                <a:lnTo>
                  <a:pt x="62" y="10004"/>
                </a:lnTo>
                <a:cubicBezTo>
                  <a:pt x="31" y="8409"/>
                  <a:pt x="98" y="1072"/>
                  <a:pt x="0" y="4"/>
                </a:cubicBezTo>
                <a:close/>
              </a:path>
            </a:pathLst>
          </a:custGeom>
          <a:solidFill>
            <a:srgbClr val="65A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p:cNvSpPr/>
          <p:nvPr userDrawn="1"/>
        </p:nvSpPr>
        <p:spPr>
          <a:xfrm>
            <a:off x="7490690" y="5672093"/>
            <a:ext cx="4702823" cy="421061"/>
          </a:xfrm>
          <a:prstGeom prst="rect">
            <a:avLst/>
          </a:prstGeom>
          <a:solidFill>
            <a:srgbClr val="0092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3" name="Group 12"/>
          <p:cNvGrpSpPr/>
          <p:nvPr userDrawn="1"/>
        </p:nvGrpSpPr>
        <p:grpSpPr>
          <a:xfrm>
            <a:off x="7637330" y="6112457"/>
            <a:ext cx="4174624" cy="723275"/>
            <a:chOff x="7646796" y="6098813"/>
            <a:chExt cx="4174624" cy="723275"/>
          </a:xfrm>
        </p:grpSpPr>
        <p:pic>
          <p:nvPicPr>
            <p:cNvPr id="14" name="Picture 10" descr="LOGO_IPNA_Blu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46796" y="6186597"/>
              <a:ext cx="581637" cy="58163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2"/>
            <p:cNvSpPr>
              <a:spLocks noChangeArrowheads="1"/>
            </p:cNvSpPr>
            <p:nvPr/>
          </p:nvSpPr>
          <p:spPr bwMode="auto">
            <a:xfrm>
              <a:off x="8208157" y="6098813"/>
              <a:ext cx="3613263"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1" i="0" u="none" strike="noStrike" cap="none" normalizeH="0" baseline="0" dirty="0">
                  <a:ln>
                    <a:noFill/>
                  </a:ln>
                  <a:solidFill>
                    <a:srgbClr val="296DC0"/>
                  </a:solidFill>
                  <a:effectLst/>
                  <a:latin typeface="Arial" panose="020B0604020202020204" pitchFamily="34" charset="0"/>
                  <a:ea typeface="Calibri" panose="020F0502020204030204" pitchFamily="34" charset="0"/>
                  <a:cs typeface="Calibri" panose="020F0502020204030204" pitchFamily="34" charset="0"/>
                </a:rPr>
                <a:t>Pediatric Nephrology</a:t>
              </a:r>
              <a:endParaRPr kumimoji="0" lang="en-GB"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Journal of the </a:t>
              </a:r>
              <a:br>
                <a:rPr kumimoji="0" lang="en-GB" altLang="en-US"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br>
              <a:r>
                <a:rPr kumimoji="0" lang="en-GB" altLang="en-US" sz="12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International Pediatric Nephrology Association</a:t>
              </a:r>
              <a:endParaRPr kumimoji="0" lang="en-GB" altLang="en-US" sz="1200" b="0" i="0" u="none" strike="noStrike" cap="none" normalizeH="0" baseline="0" dirty="0">
                <a:ln>
                  <a:noFill/>
                </a:ln>
                <a:solidFill>
                  <a:schemeClr val="tx1"/>
                </a:solidFill>
                <a:effectLst/>
                <a:latin typeface="Arial" panose="020B0604020202020204" pitchFamily="34" charset="0"/>
              </a:endParaRPr>
            </a:p>
          </p:txBody>
        </p:sp>
      </p:grpSp>
      <p:sp>
        <p:nvSpPr>
          <p:cNvPr id="37" name="Rectangle 36">
            <a:extLst>
              <a:ext uri="{FF2B5EF4-FFF2-40B4-BE49-F238E27FC236}">
                <a16:creationId xmlns:a16="http://schemas.microsoft.com/office/drawing/2014/main" id="{FB861B61-643E-7D14-D771-2A7BF1205723}"/>
              </a:ext>
            </a:extLst>
          </p:cNvPr>
          <p:cNvSpPr/>
          <p:nvPr userDrawn="1"/>
        </p:nvSpPr>
        <p:spPr>
          <a:xfrm>
            <a:off x="10209747" y="-31269"/>
            <a:ext cx="1992085" cy="1120316"/>
          </a:xfrm>
          <a:prstGeom prst="rect">
            <a:avLst/>
          </a:prstGeom>
          <a:solidFill>
            <a:srgbClr val="003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p:cNvSpPr txBox="1"/>
          <p:nvPr/>
        </p:nvSpPr>
        <p:spPr>
          <a:xfrm>
            <a:off x="10624932" y="241626"/>
            <a:ext cx="1441475" cy="523220"/>
          </a:xfrm>
          <a:prstGeom prst="rect">
            <a:avLst/>
          </a:prstGeom>
          <a:noFill/>
        </p:spPr>
        <p:txBody>
          <a:bodyPr wrap="square" rtlCol="0">
            <a:spAutoFit/>
          </a:bodyPr>
          <a:lstStyle/>
          <a:p>
            <a:r>
              <a:rPr lang="en-GB" sz="2800" dirty="0">
                <a:solidFill>
                  <a:schemeClr val="bg1"/>
                </a:solidFill>
              </a:rPr>
              <a:t>Review</a:t>
            </a:r>
          </a:p>
        </p:txBody>
      </p:sp>
      <p:sp>
        <p:nvSpPr>
          <p:cNvPr id="29" name="Flowchart: Stored Data 4">
            <a:extLst>
              <a:ext uri="{FF2B5EF4-FFF2-40B4-BE49-F238E27FC236}">
                <a16:creationId xmlns:a16="http://schemas.microsoft.com/office/drawing/2014/main" id="{17034CCF-1EDD-D498-AB89-09358AFA3492}"/>
              </a:ext>
            </a:extLst>
          </p:cNvPr>
          <p:cNvSpPr/>
          <p:nvPr userDrawn="1"/>
        </p:nvSpPr>
        <p:spPr>
          <a:xfrm rot="16200000" flipV="1">
            <a:off x="2901409" y="2274353"/>
            <a:ext cx="1684645" cy="7491425"/>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9991"/>
              <a:gd name="connsiteX1" fmla="*/ 7048 w 10056"/>
              <a:gd name="connsiteY1" fmla="*/ 0 h 9991"/>
              <a:gd name="connsiteX2" fmla="*/ 6988 w 10056"/>
              <a:gd name="connsiteY2" fmla="*/ 9628 h 9991"/>
              <a:gd name="connsiteX3" fmla="*/ 10056 w 10056"/>
              <a:gd name="connsiteY3" fmla="*/ 9987 h 9991"/>
              <a:gd name="connsiteX4" fmla="*/ 129 w 10056"/>
              <a:gd name="connsiteY4" fmla="*/ 9991 h 9991"/>
              <a:gd name="connsiteX5" fmla="*/ 0 w 10056"/>
              <a:gd name="connsiteY5" fmla="*/ 4 h 9991"/>
              <a:gd name="connsiteX0" fmla="*/ 0 w 10000"/>
              <a:gd name="connsiteY0" fmla="*/ 0 h 9996"/>
              <a:gd name="connsiteX1" fmla="*/ 6799 w 10000"/>
              <a:gd name="connsiteY1" fmla="*/ 3842 h 9996"/>
              <a:gd name="connsiteX2" fmla="*/ 6949 w 10000"/>
              <a:gd name="connsiteY2" fmla="*/ 9633 h 9996"/>
              <a:gd name="connsiteX3" fmla="*/ 10000 w 10000"/>
              <a:gd name="connsiteY3" fmla="*/ 9992 h 9996"/>
              <a:gd name="connsiteX4" fmla="*/ 128 w 10000"/>
              <a:gd name="connsiteY4" fmla="*/ 9996 h 9996"/>
              <a:gd name="connsiteX5" fmla="*/ 0 w 10000"/>
              <a:gd name="connsiteY5" fmla="*/ 0 h 9996"/>
              <a:gd name="connsiteX0" fmla="*/ 0 w 9895"/>
              <a:gd name="connsiteY0" fmla="*/ 11 h 6156"/>
              <a:gd name="connsiteX1" fmla="*/ 6694 w 9895"/>
              <a:gd name="connsiteY1" fmla="*/ 0 h 6156"/>
              <a:gd name="connsiteX2" fmla="*/ 6844 w 9895"/>
              <a:gd name="connsiteY2" fmla="*/ 5793 h 6156"/>
              <a:gd name="connsiteX3" fmla="*/ 9895 w 9895"/>
              <a:gd name="connsiteY3" fmla="*/ 6152 h 6156"/>
              <a:gd name="connsiteX4" fmla="*/ 23 w 9895"/>
              <a:gd name="connsiteY4" fmla="*/ 6156 h 6156"/>
              <a:gd name="connsiteX5" fmla="*/ 0 w 9895"/>
              <a:gd name="connsiteY5" fmla="*/ 11 h 6156"/>
              <a:gd name="connsiteX0" fmla="*/ 0 w 11007"/>
              <a:gd name="connsiteY0" fmla="*/ 7 h 10000"/>
              <a:gd name="connsiteX1" fmla="*/ 7772 w 11007"/>
              <a:gd name="connsiteY1" fmla="*/ 0 h 10000"/>
              <a:gd name="connsiteX2" fmla="*/ 7924 w 11007"/>
              <a:gd name="connsiteY2" fmla="*/ 9410 h 10000"/>
              <a:gd name="connsiteX3" fmla="*/ 11007 w 11007"/>
              <a:gd name="connsiteY3" fmla="*/ 9994 h 10000"/>
              <a:gd name="connsiteX4" fmla="*/ 1030 w 11007"/>
              <a:gd name="connsiteY4" fmla="*/ 10000 h 10000"/>
              <a:gd name="connsiteX5" fmla="*/ 0 w 11007"/>
              <a:gd name="connsiteY5" fmla="*/ 7 h 10000"/>
              <a:gd name="connsiteX0" fmla="*/ 0 w 11007"/>
              <a:gd name="connsiteY0" fmla="*/ 7 h 10000"/>
              <a:gd name="connsiteX1" fmla="*/ 7772 w 11007"/>
              <a:gd name="connsiteY1" fmla="*/ 0 h 10000"/>
              <a:gd name="connsiteX2" fmla="*/ 7924 w 11007"/>
              <a:gd name="connsiteY2" fmla="*/ 9410 h 10000"/>
              <a:gd name="connsiteX3" fmla="*/ 11007 w 11007"/>
              <a:gd name="connsiteY3" fmla="*/ 9994 h 10000"/>
              <a:gd name="connsiteX4" fmla="*/ 23 w 11007"/>
              <a:gd name="connsiteY4" fmla="*/ 10000 h 10000"/>
              <a:gd name="connsiteX5" fmla="*/ 0 w 11007"/>
              <a:gd name="connsiteY5" fmla="*/ 7 h 10000"/>
              <a:gd name="connsiteX0" fmla="*/ 76 w 10988"/>
              <a:gd name="connsiteY0" fmla="*/ 45 h 10000"/>
              <a:gd name="connsiteX1" fmla="*/ 7753 w 10988"/>
              <a:gd name="connsiteY1" fmla="*/ 0 h 10000"/>
              <a:gd name="connsiteX2" fmla="*/ 7905 w 10988"/>
              <a:gd name="connsiteY2" fmla="*/ 9410 h 10000"/>
              <a:gd name="connsiteX3" fmla="*/ 10988 w 10988"/>
              <a:gd name="connsiteY3" fmla="*/ 9994 h 10000"/>
              <a:gd name="connsiteX4" fmla="*/ 4 w 10988"/>
              <a:gd name="connsiteY4" fmla="*/ 10000 h 10000"/>
              <a:gd name="connsiteX5" fmla="*/ 76 w 10988"/>
              <a:gd name="connsiteY5" fmla="*/ 45 h 10000"/>
              <a:gd name="connsiteX0" fmla="*/ 16 w 10988"/>
              <a:gd name="connsiteY0" fmla="*/ 20 h 10000"/>
              <a:gd name="connsiteX1" fmla="*/ 7753 w 10988"/>
              <a:gd name="connsiteY1" fmla="*/ 0 h 10000"/>
              <a:gd name="connsiteX2" fmla="*/ 7905 w 10988"/>
              <a:gd name="connsiteY2" fmla="*/ 9410 h 10000"/>
              <a:gd name="connsiteX3" fmla="*/ 10988 w 10988"/>
              <a:gd name="connsiteY3" fmla="*/ 9994 h 10000"/>
              <a:gd name="connsiteX4" fmla="*/ 4 w 10988"/>
              <a:gd name="connsiteY4" fmla="*/ 10000 h 10000"/>
              <a:gd name="connsiteX5" fmla="*/ 16 w 10988"/>
              <a:gd name="connsiteY5" fmla="*/ 20 h 10000"/>
              <a:gd name="connsiteX0" fmla="*/ 16 w 10988"/>
              <a:gd name="connsiteY0" fmla="*/ 0 h 9980"/>
              <a:gd name="connsiteX1" fmla="*/ 7753 w 10988"/>
              <a:gd name="connsiteY1" fmla="*/ 0 h 9980"/>
              <a:gd name="connsiteX2" fmla="*/ 7905 w 10988"/>
              <a:gd name="connsiteY2" fmla="*/ 9390 h 9980"/>
              <a:gd name="connsiteX3" fmla="*/ 10988 w 10988"/>
              <a:gd name="connsiteY3" fmla="*/ 9974 h 9980"/>
              <a:gd name="connsiteX4" fmla="*/ 4 w 10988"/>
              <a:gd name="connsiteY4" fmla="*/ 9980 h 9980"/>
              <a:gd name="connsiteX5" fmla="*/ 16 w 10988"/>
              <a:gd name="connsiteY5" fmla="*/ 0 h 9980"/>
              <a:gd name="connsiteX0" fmla="*/ 0 w 9985"/>
              <a:gd name="connsiteY0" fmla="*/ 0 h 9994"/>
              <a:gd name="connsiteX1" fmla="*/ 7041 w 9985"/>
              <a:gd name="connsiteY1" fmla="*/ 0 h 9994"/>
              <a:gd name="connsiteX2" fmla="*/ 7179 w 9985"/>
              <a:gd name="connsiteY2" fmla="*/ 9409 h 9994"/>
              <a:gd name="connsiteX3" fmla="*/ 9985 w 9985"/>
              <a:gd name="connsiteY3" fmla="*/ 9994 h 9994"/>
              <a:gd name="connsiteX4" fmla="*/ 11 w 9985"/>
              <a:gd name="connsiteY4" fmla="*/ 9987 h 9994"/>
              <a:gd name="connsiteX5" fmla="*/ 0 w 9985"/>
              <a:gd name="connsiteY5" fmla="*/ 0 h 9994"/>
              <a:gd name="connsiteX0" fmla="*/ 0 w 10000"/>
              <a:gd name="connsiteY0" fmla="*/ 0 h 10000"/>
              <a:gd name="connsiteX1" fmla="*/ 7052 w 10000"/>
              <a:gd name="connsiteY1" fmla="*/ 0 h 10000"/>
              <a:gd name="connsiteX2" fmla="*/ 7190 w 10000"/>
              <a:gd name="connsiteY2" fmla="*/ 9415 h 10000"/>
              <a:gd name="connsiteX3" fmla="*/ 10000 w 10000"/>
              <a:gd name="connsiteY3" fmla="*/ 10000 h 10000"/>
              <a:gd name="connsiteX4" fmla="*/ 11 w 10000"/>
              <a:gd name="connsiteY4" fmla="*/ 9996 h 10000"/>
              <a:gd name="connsiteX5" fmla="*/ 0 w 10000"/>
              <a:gd name="connsiteY5" fmla="*/ 0 h 10000"/>
              <a:gd name="connsiteX0" fmla="*/ 35 w 10035"/>
              <a:gd name="connsiteY0" fmla="*/ 0 h 10009"/>
              <a:gd name="connsiteX1" fmla="*/ 7087 w 10035"/>
              <a:gd name="connsiteY1" fmla="*/ 0 h 10009"/>
              <a:gd name="connsiteX2" fmla="*/ 7225 w 10035"/>
              <a:gd name="connsiteY2" fmla="*/ 9415 h 10009"/>
              <a:gd name="connsiteX3" fmla="*/ 10035 w 10035"/>
              <a:gd name="connsiteY3" fmla="*/ 10000 h 10009"/>
              <a:gd name="connsiteX4" fmla="*/ 3 w 10035"/>
              <a:gd name="connsiteY4" fmla="*/ 10009 h 10009"/>
              <a:gd name="connsiteX5" fmla="*/ 35 w 10035"/>
              <a:gd name="connsiteY5" fmla="*/ 0 h 10009"/>
              <a:gd name="connsiteX0" fmla="*/ 0 w 10000"/>
              <a:gd name="connsiteY0" fmla="*/ 0 h 10000"/>
              <a:gd name="connsiteX1" fmla="*/ 7052 w 10000"/>
              <a:gd name="connsiteY1" fmla="*/ 0 h 10000"/>
              <a:gd name="connsiteX2" fmla="*/ 7190 w 10000"/>
              <a:gd name="connsiteY2" fmla="*/ 9415 h 10000"/>
              <a:gd name="connsiteX3" fmla="*/ 10000 w 10000"/>
              <a:gd name="connsiteY3" fmla="*/ 10000 h 10000"/>
              <a:gd name="connsiteX4" fmla="*/ 66 w 10000"/>
              <a:gd name="connsiteY4" fmla="*/ 9989 h 10000"/>
              <a:gd name="connsiteX5" fmla="*/ 0 w 10000"/>
              <a:gd name="connsiteY5" fmla="*/ 0 h 10000"/>
              <a:gd name="connsiteX0" fmla="*/ 0 w 10000"/>
              <a:gd name="connsiteY0" fmla="*/ 0 h 10002"/>
              <a:gd name="connsiteX1" fmla="*/ 7052 w 10000"/>
              <a:gd name="connsiteY1" fmla="*/ 0 h 10002"/>
              <a:gd name="connsiteX2" fmla="*/ 7190 w 10000"/>
              <a:gd name="connsiteY2" fmla="*/ 9415 h 10002"/>
              <a:gd name="connsiteX3" fmla="*/ 10000 w 10000"/>
              <a:gd name="connsiteY3" fmla="*/ 10000 h 10002"/>
              <a:gd name="connsiteX4" fmla="*/ 23 w 10000"/>
              <a:gd name="connsiteY4" fmla="*/ 10002 h 10002"/>
              <a:gd name="connsiteX5" fmla="*/ 0 w 10000"/>
              <a:gd name="connsiteY5" fmla="*/ 0 h 10002"/>
              <a:gd name="connsiteX0" fmla="*/ 164 w 10164"/>
              <a:gd name="connsiteY0" fmla="*/ 0 h 10000"/>
              <a:gd name="connsiteX1" fmla="*/ 7216 w 10164"/>
              <a:gd name="connsiteY1" fmla="*/ 0 h 10000"/>
              <a:gd name="connsiteX2" fmla="*/ 7354 w 10164"/>
              <a:gd name="connsiteY2" fmla="*/ 9415 h 10000"/>
              <a:gd name="connsiteX3" fmla="*/ 10164 w 10164"/>
              <a:gd name="connsiteY3" fmla="*/ 10000 h 10000"/>
              <a:gd name="connsiteX4" fmla="*/ 2 w 10164"/>
              <a:gd name="connsiteY4" fmla="*/ 9999 h 10000"/>
              <a:gd name="connsiteX5" fmla="*/ 164 w 10164"/>
              <a:gd name="connsiteY5" fmla="*/ 0 h 10000"/>
              <a:gd name="connsiteX0" fmla="*/ 163 w 10163"/>
              <a:gd name="connsiteY0" fmla="*/ 0 h 10000"/>
              <a:gd name="connsiteX1" fmla="*/ 7215 w 10163"/>
              <a:gd name="connsiteY1" fmla="*/ 0 h 10000"/>
              <a:gd name="connsiteX2" fmla="*/ 7353 w 10163"/>
              <a:gd name="connsiteY2" fmla="*/ 9415 h 10000"/>
              <a:gd name="connsiteX3" fmla="*/ 10163 w 10163"/>
              <a:gd name="connsiteY3" fmla="*/ 10000 h 10000"/>
              <a:gd name="connsiteX4" fmla="*/ 1 w 10163"/>
              <a:gd name="connsiteY4" fmla="*/ 9999 h 10000"/>
              <a:gd name="connsiteX5" fmla="*/ 163 w 10163"/>
              <a:gd name="connsiteY5" fmla="*/ 0 h 10000"/>
              <a:gd name="connsiteX0" fmla="*/ 0 w 10174"/>
              <a:gd name="connsiteY0" fmla="*/ 0 h 10000"/>
              <a:gd name="connsiteX1" fmla="*/ 7226 w 10174"/>
              <a:gd name="connsiteY1" fmla="*/ 0 h 10000"/>
              <a:gd name="connsiteX2" fmla="*/ 7364 w 10174"/>
              <a:gd name="connsiteY2" fmla="*/ 9415 h 10000"/>
              <a:gd name="connsiteX3" fmla="*/ 10174 w 10174"/>
              <a:gd name="connsiteY3" fmla="*/ 10000 h 10000"/>
              <a:gd name="connsiteX4" fmla="*/ 12 w 10174"/>
              <a:gd name="connsiteY4" fmla="*/ 9999 h 10000"/>
              <a:gd name="connsiteX5" fmla="*/ 0 w 10174"/>
              <a:gd name="connsiteY5" fmla="*/ 0 h 10000"/>
              <a:gd name="connsiteX0" fmla="*/ 0 w 10174"/>
              <a:gd name="connsiteY0" fmla="*/ 0 h 10000"/>
              <a:gd name="connsiteX1" fmla="*/ 7226 w 10174"/>
              <a:gd name="connsiteY1" fmla="*/ 0 h 10000"/>
              <a:gd name="connsiteX2" fmla="*/ 7364 w 10174"/>
              <a:gd name="connsiteY2" fmla="*/ 9415 h 10000"/>
              <a:gd name="connsiteX3" fmla="*/ 10174 w 10174"/>
              <a:gd name="connsiteY3" fmla="*/ 10000 h 10000"/>
              <a:gd name="connsiteX4" fmla="*/ 12 w 10174"/>
              <a:gd name="connsiteY4" fmla="*/ 9999 h 10000"/>
              <a:gd name="connsiteX5" fmla="*/ 0 w 10174"/>
              <a:gd name="connsiteY5" fmla="*/ 0 h 10000"/>
              <a:gd name="connsiteX0" fmla="*/ 0 w 10174"/>
              <a:gd name="connsiteY0" fmla="*/ 3 h 10003"/>
              <a:gd name="connsiteX1" fmla="*/ 7335 w 10174"/>
              <a:gd name="connsiteY1" fmla="*/ 0 h 10003"/>
              <a:gd name="connsiteX2" fmla="*/ 7364 w 10174"/>
              <a:gd name="connsiteY2" fmla="*/ 9418 h 10003"/>
              <a:gd name="connsiteX3" fmla="*/ 10174 w 10174"/>
              <a:gd name="connsiteY3" fmla="*/ 10003 h 10003"/>
              <a:gd name="connsiteX4" fmla="*/ 12 w 10174"/>
              <a:gd name="connsiteY4" fmla="*/ 10002 h 10003"/>
              <a:gd name="connsiteX5" fmla="*/ 0 w 10174"/>
              <a:gd name="connsiteY5" fmla="*/ 3 h 10003"/>
              <a:gd name="connsiteX0" fmla="*/ 0 w 10174"/>
              <a:gd name="connsiteY0" fmla="*/ 6 h 10006"/>
              <a:gd name="connsiteX1" fmla="*/ 7346 w 10174"/>
              <a:gd name="connsiteY1" fmla="*/ 0 h 10006"/>
              <a:gd name="connsiteX2" fmla="*/ 7364 w 10174"/>
              <a:gd name="connsiteY2" fmla="*/ 9421 h 10006"/>
              <a:gd name="connsiteX3" fmla="*/ 10174 w 10174"/>
              <a:gd name="connsiteY3" fmla="*/ 10006 h 10006"/>
              <a:gd name="connsiteX4" fmla="*/ 12 w 10174"/>
              <a:gd name="connsiteY4" fmla="*/ 10005 h 10006"/>
              <a:gd name="connsiteX5" fmla="*/ 0 w 10174"/>
              <a:gd name="connsiteY5" fmla="*/ 6 h 10006"/>
              <a:gd name="connsiteX0" fmla="*/ 0 w 10174"/>
              <a:gd name="connsiteY0" fmla="*/ 6 h 10006"/>
              <a:gd name="connsiteX1" fmla="*/ 7346 w 10174"/>
              <a:gd name="connsiteY1" fmla="*/ 0 h 10006"/>
              <a:gd name="connsiteX2" fmla="*/ 7364 w 10174"/>
              <a:gd name="connsiteY2" fmla="*/ 9421 h 10006"/>
              <a:gd name="connsiteX3" fmla="*/ 10174 w 10174"/>
              <a:gd name="connsiteY3" fmla="*/ 10006 h 10006"/>
              <a:gd name="connsiteX4" fmla="*/ 12 w 10174"/>
              <a:gd name="connsiteY4" fmla="*/ 10005 h 10006"/>
              <a:gd name="connsiteX5" fmla="*/ 0 w 10174"/>
              <a:gd name="connsiteY5" fmla="*/ 6 h 10006"/>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0 w 9613"/>
              <a:gd name="connsiteY0" fmla="*/ 3 h 10009"/>
              <a:gd name="connsiteX1" fmla="*/ 6785 w 9613"/>
              <a:gd name="connsiteY1" fmla="*/ 0 h 10009"/>
              <a:gd name="connsiteX2" fmla="*/ 6803 w 9613"/>
              <a:gd name="connsiteY2" fmla="*/ 9424 h 10009"/>
              <a:gd name="connsiteX3" fmla="*/ 9613 w 9613"/>
              <a:gd name="connsiteY3" fmla="*/ 10009 h 10009"/>
              <a:gd name="connsiteX4" fmla="*/ 95 w 9613"/>
              <a:gd name="connsiteY4" fmla="*/ 9998 h 10009"/>
              <a:gd name="connsiteX5" fmla="*/ 0 w 9613"/>
              <a:gd name="connsiteY5" fmla="*/ 3 h 10009"/>
              <a:gd name="connsiteX0" fmla="*/ 0 w 10000"/>
              <a:gd name="connsiteY0" fmla="*/ 3 h 10000"/>
              <a:gd name="connsiteX1" fmla="*/ 7058 w 10000"/>
              <a:gd name="connsiteY1" fmla="*/ 0 h 10000"/>
              <a:gd name="connsiteX2" fmla="*/ 7077 w 10000"/>
              <a:gd name="connsiteY2" fmla="*/ 9416 h 10000"/>
              <a:gd name="connsiteX3" fmla="*/ 10000 w 10000"/>
              <a:gd name="connsiteY3" fmla="*/ 10000 h 10000"/>
              <a:gd name="connsiteX4" fmla="*/ 14 w 10000"/>
              <a:gd name="connsiteY4" fmla="*/ 9999 h 10000"/>
              <a:gd name="connsiteX5" fmla="*/ 0 w 10000"/>
              <a:gd name="connsiteY5" fmla="*/ 3 h 10000"/>
              <a:gd name="connsiteX0" fmla="*/ 0 w 10000"/>
              <a:gd name="connsiteY0" fmla="*/ 3 h 10000"/>
              <a:gd name="connsiteX1" fmla="*/ 7058 w 10000"/>
              <a:gd name="connsiteY1" fmla="*/ 0 h 10000"/>
              <a:gd name="connsiteX2" fmla="*/ 7077 w 10000"/>
              <a:gd name="connsiteY2" fmla="*/ 9416 h 10000"/>
              <a:gd name="connsiteX3" fmla="*/ 10000 w 10000"/>
              <a:gd name="connsiteY3" fmla="*/ 10000 h 10000"/>
              <a:gd name="connsiteX4" fmla="*/ 14 w 10000"/>
              <a:gd name="connsiteY4" fmla="*/ 9999 h 10000"/>
              <a:gd name="connsiteX5" fmla="*/ 0 w 10000"/>
              <a:gd name="connsiteY5" fmla="*/ 3 h 10000"/>
              <a:gd name="connsiteX0" fmla="*/ 0 w 10000"/>
              <a:gd name="connsiteY0" fmla="*/ 3 h 10000"/>
              <a:gd name="connsiteX1" fmla="*/ 7058 w 10000"/>
              <a:gd name="connsiteY1" fmla="*/ 0 h 10000"/>
              <a:gd name="connsiteX2" fmla="*/ 7077 w 10000"/>
              <a:gd name="connsiteY2" fmla="*/ 9416 h 10000"/>
              <a:gd name="connsiteX3" fmla="*/ 10000 w 10000"/>
              <a:gd name="connsiteY3" fmla="*/ 10000 h 10000"/>
              <a:gd name="connsiteX4" fmla="*/ 14 w 10000"/>
              <a:gd name="connsiteY4" fmla="*/ 9999 h 10000"/>
              <a:gd name="connsiteX5" fmla="*/ 0 w 10000"/>
              <a:gd name="connsiteY5" fmla="*/ 3 h 10000"/>
              <a:gd name="connsiteX0" fmla="*/ 0 w 10000"/>
              <a:gd name="connsiteY0" fmla="*/ 3 h 10000"/>
              <a:gd name="connsiteX1" fmla="*/ 7058 w 10000"/>
              <a:gd name="connsiteY1" fmla="*/ 0 h 10000"/>
              <a:gd name="connsiteX2" fmla="*/ 7077 w 10000"/>
              <a:gd name="connsiteY2" fmla="*/ 9416 h 10000"/>
              <a:gd name="connsiteX3" fmla="*/ 10000 w 10000"/>
              <a:gd name="connsiteY3" fmla="*/ 10000 h 10000"/>
              <a:gd name="connsiteX4" fmla="*/ 14 w 10000"/>
              <a:gd name="connsiteY4" fmla="*/ 9999 h 10000"/>
              <a:gd name="connsiteX5" fmla="*/ 0 w 10000"/>
              <a:gd name="connsiteY5" fmla="*/ 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3"/>
                </a:moveTo>
                <a:lnTo>
                  <a:pt x="7058" y="0"/>
                </a:lnTo>
                <a:cubicBezTo>
                  <a:pt x="7049" y="2528"/>
                  <a:pt x="7068" y="8825"/>
                  <a:pt x="7077" y="9416"/>
                </a:cubicBezTo>
                <a:cubicBezTo>
                  <a:pt x="7052" y="9743"/>
                  <a:pt x="8384" y="10000"/>
                  <a:pt x="10000" y="10000"/>
                </a:cubicBezTo>
                <a:lnTo>
                  <a:pt x="14" y="9999"/>
                </a:lnTo>
                <a:cubicBezTo>
                  <a:pt x="7" y="7401"/>
                  <a:pt x="15" y="1749"/>
                  <a:pt x="0" y="3"/>
                </a:cubicBezTo>
                <a:close/>
              </a:path>
            </a:pathLst>
          </a:custGeom>
          <a:solidFill>
            <a:srgbClr val="65A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06109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ducational Review">
    <p:spTree>
      <p:nvGrpSpPr>
        <p:cNvPr id="1" name=""/>
        <p:cNvGrpSpPr/>
        <p:nvPr/>
      </p:nvGrpSpPr>
      <p:grpSpPr>
        <a:xfrm>
          <a:off x="0" y="0"/>
          <a:ext cx="0" cy="0"/>
          <a:chOff x="0" y="0"/>
          <a:chExt cx="0" cy="0"/>
        </a:xfrm>
      </p:grpSpPr>
      <p:sp>
        <p:nvSpPr>
          <p:cNvPr id="5" name="Flowchart: Stored Data 4">
            <a:extLst>
              <a:ext uri="{FF2B5EF4-FFF2-40B4-BE49-F238E27FC236}">
                <a16:creationId xmlns:a16="http://schemas.microsoft.com/office/drawing/2014/main" id="{D150C2D2-09E4-F78B-7FA6-F42DD5FA59F4}"/>
              </a:ext>
            </a:extLst>
          </p:cNvPr>
          <p:cNvSpPr/>
          <p:nvPr userDrawn="1"/>
        </p:nvSpPr>
        <p:spPr>
          <a:xfrm rot="5400000">
            <a:off x="5283465" y="-5325515"/>
            <a:ext cx="1614236" cy="1221477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0 h 9996"/>
              <a:gd name="connsiteX1" fmla="*/ 7001 w 10056"/>
              <a:gd name="connsiteY1" fmla="*/ 1 h 9996"/>
              <a:gd name="connsiteX2" fmla="*/ 6988 w 10056"/>
              <a:gd name="connsiteY2" fmla="*/ 9624 h 9996"/>
              <a:gd name="connsiteX3" fmla="*/ 10056 w 10056"/>
              <a:gd name="connsiteY3" fmla="*/ 9983 h 9996"/>
              <a:gd name="connsiteX4" fmla="*/ 62 w 10056"/>
              <a:gd name="connsiteY4" fmla="*/ 9996 h 9996"/>
              <a:gd name="connsiteX5" fmla="*/ 0 w 10056"/>
              <a:gd name="connsiteY5" fmla="*/ 0 h 9996"/>
              <a:gd name="connsiteX0" fmla="*/ 0 w 10000"/>
              <a:gd name="connsiteY0" fmla="*/ 2 h 10002"/>
              <a:gd name="connsiteX1" fmla="*/ 6962 w 10000"/>
              <a:gd name="connsiteY1" fmla="*/ 0 h 10002"/>
              <a:gd name="connsiteX2" fmla="*/ 6949 w 10000"/>
              <a:gd name="connsiteY2" fmla="*/ 9630 h 10002"/>
              <a:gd name="connsiteX3" fmla="*/ 10000 w 10000"/>
              <a:gd name="connsiteY3" fmla="*/ 9989 h 10002"/>
              <a:gd name="connsiteX4" fmla="*/ 62 w 10000"/>
              <a:gd name="connsiteY4" fmla="*/ 10002 h 10002"/>
              <a:gd name="connsiteX5" fmla="*/ 0 w 10000"/>
              <a:gd name="connsiteY5" fmla="*/ 2 h 10002"/>
              <a:gd name="connsiteX0" fmla="*/ 0 w 10000"/>
              <a:gd name="connsiteY0" fmla="*/ 4 h 10004"/>
              <a:gd name="connsiteX1" fmla="*/ 6927 w 10000"/>
              <a:gd name="connsiteY1" fmla="*/ 0 h 10004"/>
              <a:gd name="connsiteX2" fmla="*/ 6949 w 10000"/>
              <a:gd name="connsiteY2" fmla="*/ 9632 h 10004"/>
              <a:gd name="connsiteX3" fmla="*/ 10000 w 10000"/>
              <a:gd name="connsiteY3" fmla="*/ 9991 h 10004"/>
              <a:gd name="connsiteX4" fmla="*/ 62 w 10000"/>
              <a:gd name="connsiteY4" fmla="*/ 10004 h 10004"/>
              <a:gd name="connsiteX5" fmla="*/ 0 w 10000"/>
              <a:gd name="connsiteY5" fmla="*/ 4 h 10004"/>
              <a:gd name="connsiteX0" fmla="*/ 0 w 10000"/>
              <a:gd name="connsiteY0" fmla="*/ 4 h 10004"/>
              <a:gd name="connsiteX1" fmla="*/ 6927 w 10000"/>
              <a:gd name="connsiteY1" fmla="*/ 0 h 10004"/>
              <a:gd name="connsiteX2" fmla="*/ 6949 w 10000"/>
              <a:gd name="connsiteY2" fmla="*/ 9632 h 10004"/>
              <a:gd name="connsiteX3" fmla="*/ 10000 w 10000"/>
              <a:gd name="connsiteY3" fmla="*/ 9991 h 10004"/>
              <a:gd name="connsiteX4" fmla="*/ 62 w 10000"/>
              <a:gd name="connsiteY4" fmla="*/ 10004 h 10004"/>
              <a:gd name="connsiteX5" fmla="*/ 0 w 10000"/>
              <a:gd name="connsiteY5" fmla="*/ 4 h 1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4">
                <a:moveTo>
                  <a:pt x="0" y="4"/>
                </a:moveTo>
                <a:lnTo>
                  <a:pt x="6927" y="0"/>
                </a:lnTo>
                <a:cubicBezTo>
                  <a:pt x="6894" y="1547"/>
                  <a:pt x="6891" y="9283"/>
                  <a:pt x="6949" y="9632"/>
                </a:cubicBezTo>
                <a:cubicBezTo>
                  <a:pt x="6923" y="9834"/>
                  <a:pt x="8645" y="9997"/>
                  <a:pt x="10000" y="9991"/>
                </a:cubicBezTo>
                <a:lnTo>
                  <a:pt x="62" y="10004"/>
                </a:lnTo>
                <a:cubicBezTo>
                  <a:pt x="31" y="8409"/>
                  <a:pt x="98" y="1072"/>
                  <a:pt x="0" y="4"/>
                </a:cubicBezTo>
                <a:close/>
              </a:path>
            </a:pathLst>
          </a:custGeom>
          <a:solidFill>
            <a:srgbClr val="65A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p:cNvSpPr/>
          <p:nvPr userDrawn="1"/>
        </p:nvSpPr>
        <p:spPr>
          <a:xfrm>
            <a:off x="7490690" y="5672093"/>
            <a:ext cx="4702823" cy="421061"/>
          </a:xfrm>
          <a:prstGeom prst="rect">
            <a:avLst/>
          </a:prstGeom>
          <a:solidFill>
            <a:srgbClr val="003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3" name="Group 12"/>
          <p:cNvGrpSpPr/>
          <p:nvPr userDrawn="1"/>
        </p:nvGrpSpPr>
        <p:grpSpPr>
          <a:xfrm>
            <a:off x="7637330" y="6112457"/>
            <a:ext cx="4174624" cy="723275"/>
            <a:chOff x="7646796" y="6098813"/>
            <a:chExt cx="4174624" cy="723275"/>
          </a:xfrm>
        </p:grpSpPr>
        <p:pic>
          <p:nvPicPr>
            <p:cNvPr id="14" name="Picture 10" descr="LOGO_IPNA_Blu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46796" y="6186597"/>
              <a:ext cx="581637" cy="58163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2"/>
            <p:cNvSpPr>
              <a:spLocks noChangeArrowheads="1"/>
            </p:cNvSpPr>
            <p:nvPr/>
          </p:nvSpPr>
          <p:spPr bwMode="auto">
            <a:xfrm>
              <a:off x="8208157" y="6098813"/>
              <a:ext cx="3613263"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1" i="0" u="none" strike="noStrike" cap="none" normalizeH="0" baseline="0" dirty="0">
                  <a:ln>
                    <a:noFill/>
                  </a:ln>
                  <a:solidFill>
                    <a:srgbClr val="296DC0"/>
                  </a:solidFill>
                  <a:effectLst/>
                  <a:latin typeface="Arial" panose="020B0604020202020204" pitchFamily="34" charset="0"/>
                  <a:ea typeface="Calibri" panose="020F0502020204030204" pitchFamily="34" charset="0"/>
                  <a:cs typeface="Calibri" panose="020F0502020204030204" pitchFamily="34" charset="0"/>
                </a:rPr>
                <a:t>Pediatric Nephrology</a:t>
              </a:r>
              <a:endParaRPr kumimoji="0" lang="en-GB"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Journal of the </a:t>
              </a:r>
              <a:br>
                <a:rPr kumimoji="0" lang="en-GB" altLang="en-US"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br>
              <a:r>
                <a:rPr kumimoji="0" lang="en-GB" altLang="en-US" sz="12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International Pediatric Nephrology Association</a:t>
              </a:r>
              <a:endParaRPr kumimoji="0" lang="en-GB" altLang="en-US" sz="1200" b="0" i="0" u="none" strike="noStrike" cap="none" normalizeH="0" baseline="0" dirty="0">
                <a:ln>
                  <a:noFill/>
                </a:ln>
                <a:solidFill>
                  <a:schemeClr val="tx1"/>
                </a:solidFill>
                <a:effectLst/>
                <a:latin typeface="Arial" panose="020B0604020202020204" pitchFamily="34" charset="0"/>
              </a:endParaRPr>
            </a:p>
          </p:txBody>
        </p:sp>
      </p:grpSp>
      <p:sp>
        <p:nvSpPr>
          <p:cNvPr id="37" name="Rectangle 36">
            <a:extLst>
              <a:ext uri="{FF2B5EF4-FFF2-40B4-BE49-F238E27FC236}">
                <a16:creationId xmlns:a16="http://schemas.microsoft.com/office/drawing/2014/main" id="{FB861B61-643E-7D14-D771-2A7BF1205723}"/>
              </a:ext>
            </a:extLst>
          </p:cNvPr>
          <p:cNvSpPr/>
          <p:nvPr userDrawn="1"/>
        </p:nvSpPr>
        <p:spPr>
          <a:xfrm>
            <a:off x="10199915" y="-25248"/>
            <a:ext cx="2002971" cy="1115452"/>
          </a:xfrm>
          <a:prstGeom prst="rect">
            <a:avLst/>
          </a:prstGeom>
          <a:solidFill>
            <a:srgbClr val="AA00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oup 33">
            <a:extLst>
              <a:ext uri="{FF2B5EF4-FFF2-40B4-BE49-F238E27FC236}">
                <a16:creationId xmlns:a16="http://schemas.microsoft.com/office/drawing/2014/main" id="{49043F73-8834-4114-AD27-24C1BD0B05A6}"/>
              </a:ext>
            </a:extLst>
          </p:cNvPr>
          <p:cNvGrpSpPr/>
          <p:nvPr userDrawn="1"/>
        </p:nvGrpSpPr>
        <p:grpSpPr>
          <a:xfrm>
            <a:off x="10273494" y="138710"/>
            <a:ext cx="1935480" cy="780217"/>
            <a:chOff x="10212534" y="176810"/>
            <a:chExt cx="1935480" cy="780217"/>
          </a:xfrm>
        </p:grpSpPr>
        <p:sp>
          <p:nvSpPr>
            <p:cNvPr id="19" name="TextBox 18"/>
            <p:cNvSpPr txBox="1"/>
            <p:nvPr/>
          </p:nvSpPr>
          <p:spPr>
            <a:xfrm>
              <a:off x="10618401" y="433807"/>
              <a:ext cx="1441475" cy="523220"/>
            </a:xfrm>
            <a:prstGeom prst="rect">
              <a:avLst/>
            </a:prstGeom>
            <a:noFill/>
          </p:spPr>
          <p:txBody>
            <a:bodyPr wrap="square" rtlCol="0">
              <a:spAutoFit/>
            </a:bodyPr>
            <a:lstStyle/>
            <a:p>
              <a:r>
                <a:rPr lang="en-GB" sz="2800" dirty="0">
                  <a:solidFill>
                    <a:schemeClr val="bg1"/>
                  </a:solidFill>
                </a:rPr>
                <a:t>Review</a:t>
              </a:r>
            </a:p>
          </p:txBody>
        </p:sp>
        <p:sp>
          <p:nvSpPr>
            <p:cNvPr id="18" name="TextBox 17"/>
            <p:cNvSpPr txBox="1"/>
            <p:nvPr/>
          </p:nvSpPr>
          <p:spPr>
            <a:xfrm>
              <a:off x="10212534" y="176810"/>
              <a:ext cx="1935480" cy="523220"/>
            </a:xfrm>
            <a:prstGeom prst="rect">
              <a:avLst/>
            </a:prstGeom>
            <a:noFill/>
          </p:spPr>
          <p:txBody>
            <a:bodyPr wrap="square" rtlCol="0">
              <a:spAutoFit/>
            </a:bodyPr>
            <a:lstStyle/>
            <a:p>
              <a:r>
                <a:rPr lang="en-GB" sz="2800" dirty="0">
                  <a:solidFill>
                    <a:schemeClr val="bg1"/>
                  </a:solidFill>
                </a:rPr>
                <a:t>Educational</a:t>
              </a:r>
            </a:p>
          </p:txBody>
        </p:sp>
      </p:grpSp>
      <p:sp>
        <p:nvSpPr>
          <p:cNvPr id="29" name="Flowchart: Stored Data 4">
            <a:extLst>
              <a:ext uri="{FF2B5EF4-FFF2-40B4-BE49-F238E27FC236}">
                <a16:creationId xmlns:a16="http://schemas.microsoft.com/office/drawing/2014/main" id="{17034CCF-1EDD-D498-AB89-09358AFA3492}"/>
              </a:ext>
            </a:extLst>
          </p:cNvPr>
          <p:cNvSpPr/>
          <p:nvPr userDrawn="1"/>
        </p:nvSpPr>
        <p:spPr>
          <a:xfrm rot="16200000" flipV="1">
            <a:off x="2895934" y="2279828"/>
            <a:ext cx="1695595" cy="7491425"/>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9991"/>
              <a:gd name="connsiteX1" fmla="*/ 7048 w 10056"/>
              <a:gd name="connsiteY1" fmla="*/ 0 h 9991"/>
              <a:gd name="connsiteX2" fmla="*/ 6988 w 10056"/>
              <a:gd name="connsiteY2" fmla="*/ 9628 h 9991"/>
              <a:gd name="connsiteX3" fmla="*/ 10056 w 10056"/>
              <a:gd name="connsiteY3" fmla="*/ 9987 h 9991"/>
              <a:gd name="connsiteX4" fmla="*/ 129 w 10056"/>
              <a:gd name="connsiteY4" fmla="*/ 9991 h 9991"/>
              <a:gd name="connsiteX5" fmla="*/ 0 w 10056"/>
              <a:gd name="connsiteY5" fmla="*/ 4 h 9991"/>
              <a:gd name="connsiteX0" fmla="*/ 0 w 10000"/>
              <a:gd name="connsiteY0" fmla="*/ 0 h 9996"/>
              <a:gd name="connsiteX1" fmla="*/ 6799 w 10000"/>
              <a:gd name="connsiteY1" fmla="*/ 3842 h 9996"/>
              <a:gd name="connsiteX2" fmla="*/ 6949 w 10000"/>
              <a:gd name="connsiteY2" fmla="*/ 9633 h 9996"/>
              <a:gd name="connsiteX3" fmla="*/ 10000 w 10000"/>
              <a:gd name="connsiteY3" fmla="*/ 9992 h 9996"/>
              <a:gd name="connsiteX4" fmla="*/ 128 w 10000"/>
              <a:gd name="connsiteY4" fmla="*/ 9996 h 9996"/>
              <a:gd name="connsiteX5" fmla="*/ 0 w 10000"/>
              <a:gd name="connsiteY5" fmla="*/ 0 h 9996"/>
              <a:gd name="connsiteX0" fmla="*/ 0 w 9895"/>
              <a:gd name="connsiteY0" fmla="*/ 11 h 6156"/>
              <a:gd name="connsiteX1" fmla="*/ 6694 w 9895"/>
              <a:gd name="connsiteY1" fmla="*/ 0 h 6156"/>
              <a:gd name="connsiteX2" fmla="*/ 6844 w 9895"/>
              <a:gd name="connsiteY2" fmla="*/ 5793 h 6156"/>
              <a:gd name="connsiteX3" fmla="*/ 9895 w 9895"/>
              <a:gd name="connsiteY3" fmla="*/ 6152 h 6156"/>
              <a:gd name="connsiteX4" fmla="*/ 23 w 9895"/>
              <a:gd name="connsiteY4" fmla="*/ 6156 h 6156"/>
              <a:gd name="connsiteX5" fmla="*/ 0 w 9895"/>
              <a:gd name="connsiteY5" fmla="*/ 11 h 6156"/>
              <a:gd name="connsiteX0" fmla="*/ 0 w 11007"/>
              <a:gd name="connsiteY0" fmla="*/ 7 h 10000"/>
              <a:gd name="connsiteX1" fmla="*/ 7772 w 11007"/>
              <a:gd name="connsiteY1" fmla="*/ 0 h 10000"/>
              <a:gd name="connsiteX2" fmla="*/ 7924 w 11007"/>
              <a:gd name="connsiteY2" fmla="*/ 9410 h 10000"/>
              <a:gd name="connsiteX3" fmla="*/ 11007 w 11007"/>
              <a:gd name="connsiteY3" fmla="*/ 9994 h 10000"/>
              <a:gd name="connsiteX4" fmla="*/ 1030 w 11007"/>
              <a:gd name="connsiteY4" fmla="*/ 10000 h 10000"/>
              <a:gd name="connsiteX5" fmla="*/ 0 w 11007"/>
              <a:gd name="connsiteY5" fmla="*/ 7 h 10000"/>
              <a:gd name="connsiteX0" fmla="*/ 0 w 11007"/>
              <a:gd name="connsiteY0" fmla="*/ 7 h 10000"/>
              <a:gd name="connsiteX1" fmla="*/ 7772 w 11007"/>
              <a:gd name="connsiteY1" fmla="*/ 0 h 10000"/>
              <a:gd name="connsiteX2" fmla="*/ 7924 w 11007"/>
              <a:gd name="connsiteY2" fmla="*/ 9410 h 10000"/>
              <a:gd name="connsiteX3" fmla="*/ 11007 w 11007"/>
              <a:gd name="connsiteY3" fmla="*/ 9994 h 10000"/>
              <a:gd name="connsiteX4" fmla="*/ 23 w 11007"/>
              <a:gd name="connsiteY4" fmla="*/ 10000 h 10000"/>
              <a:gd name="connsiteX5" fmla="*/ 0 w 11007"/>
              <a:gd name="connsiteY5" fmla="*/ 7 h 10000"/>
              <a:gd name="connsiteX0" fmla="*/ 76 w 10988"/>
              <a:gd name="connsiteY0" fmla="*/ 45 h 10000"/>
              <a:gd name="connsiteX1" fmla="*/ 7753 w 10988"/>
              <a:gd name="connsiteY1" fmla="*/ 0 h 10000"/>
              <a:gd name="connsiteX2" fmla="*/ 7905 w 10988"/>
              <a:gd name="connsiteY2" fmla="*/ 9410 h 10000"/>
              <a:gd name="connsiteX3" fmla="*/ 10988 w 10988"/>
              <a:gd name="connsiteY3" fmla="*/ 9994 h 10000"/>
              <a:gd name="connsiteX4" fmla="*/ 4 w 10988"/>
              <a:gd name="connsiteY4" fmla="*/ 10000 h 10000"/>
              <a:gd name="connsiteX5" fmla="*/ 76 w 10988"/>
              <a:gd name="connsiteY5" fmla="*/ 45 h 10000"/>
              <a:gd name="connsiteX0" fmla="*/ 16 w 10988"/>
              <a:gd name="connsiteY0" fmla="*/ 20 h 10000"/>
              <a:gd name="connsiteX1" fmla="*/ 7753 w 10988"/>
              <a:gd name="connsiteY1" fmla="*/ 0 h 10000"/>
              <a:gd name="connsiteX2" fmla="*/ 7905 w 10988"/>
              <a:gd name="connsiteY2" fmla="*/ 9410 h 10000"/>
              <a:gd name="connsiteX3" fmla="*/ 10988 w 10988"/>
              <a:gd name="connsiteY3" fmla="*/ 9994 h 10000"/>
              <a:gd name="connsiteX4" fmla="*/ 4 w 10988"/>
              <a:gd name="connsiteY4" fmla="*/ 10000 h 10000"/>
              <a:gd name="connsiteX5" fmla="*/ 16 w 10988"/>
              <a:gd name="connsiteY5" fmla="*/ 20 h 10000"/>
              <a:gd name="connsiteX0" fmla="*/ 16 w 10988"/>
              <a:gd name="connsiteY0" fmla="*/ 0 h 9980"/>
              <a:gd name="connsiteX1" fmla="*/ 7753 w 10988"/>
              <a:gd name="connsiteY1" fmla="*/ 0 h 9980"/>
              <a:gd name="connsiteX2" fmla="*/ 7905 w 10988"/>
              <a:gd name="connsiteY2" fmla="*/ 9390 h 9980"/>
              <a:gd name="connsiteX3" fmla="*/ 10988 w 10988"/>
              <a:gd name="connsiteY3" fmla="*/ 9974 h 9980"/>
              <a:gd name="connsiteX4" fmla="*/ 4 w 10988"/>
              <a:gd name="connsiteY4" fmla="*/ 9980 h 9980"/>
              <a:gd name="connsiteX5" fmla="*/ 16 w 10988"/>
              <a:gd name="connsiteY5" fmla="*/ 0 h 9980"/>
              <a:gd name="connsiteX0" fmla="*/ 0 w 9985"/>
              <a:gd name="connsiteY0" fmla="*/ 0 h 9994"/>
              <a:gd name="connsiteX1" fmla="*/ 7041 w 9985"/>
              <a:gd name="connsiteY1" fmla="*/ 0 h 9994"/>
              <a:gd name="connsiteX2" fmla="*/ 7179 w 9985"/>
              <a:gd name="connsiteY2" fmla="*/ 9409 h 9994"/>
              <a:gd name="connsiteX3" fmla="*/ 9985 w 9985"/>
              <a:gd name="connsiteY3" fmla="*/ 9994 h 9994"/>
              <a:gd name="connsiteX4" fmla="*/ 11 w 9985"/>
              <a:gd name="connsiteY4" fmla="*/ 9987 h 9994"/>
              <a:gd name="connsiteX5" fmla="*/ 0 w 9985"/>
              <a:gd name="connsiteY5" fmla="*/ 0 h 9994"/>
              <a:gd name="connsiteX0" fmla="*/ 0 w 10000"/>
              <a:gd name="connsiteY0" fmla="*/ 0 h 10000"/>
              <a:gd name="connsiteX1" fmla="*/ 7052 w 10000"/>
              <a:gd name="connsiteY1" fmla="*/ 0 h 10000"/>
              <a:gd name="connsiteX2" fmla="*/ 7190 w 10000"/>
              <a:gd name="connsiteY2" fmla="*/ 9415 h 10000"/>
              <a:gd name="connsiteX3" fmla="*/ 10000 w 10000"/>
              <a:gd name="connsiteY3" fmla="*/ 10000 h 10000"/>
              <a:gd name="connsiteX4" fmla="*/ 11 w 10000"/>
              <a:gd name="connsiteY4" fmla="*/ 9996 h 10000"/>
              <a:gd name="connsiteX5" fmla="*/ 0 w 10000"/>
              <a:gd name="connsiteY5" fmla="*/ 0 h 10000"/>
              <a:gd name="connsiteX0" fmla="*/ 35 w 10035"/>
              <a:gd name="connsiteY0" fmla="*/ 0 h 10009"/>
              <a:gd name="connsiteX1" fmla="*/ 7087 w 10035"/>
              <a:gd name="connsiteY1" fmla="*/ 0 h 10009"/>
              <a:gd name="connsiteX2" fmla="*/ 7225 w 10035"/>
              <a:gd name="connsiteY2" fmla="*/ 9415 h 10009"/>
              <a:gd name="connsiteX3" fmla="*/ 10035 w 10035"/>
              <a:gd name="connsiteY3" fmla="*/ 10000 h 10009"/>
              <a:gd name="connsiteX4" fmla="*/ 3 w 10035"/>
              <a:gd name="connsiteY4" fmla="*/ 10009 h 10009"/>
              <a:gd name="connsiteX5" fmla="*/ 35 w 10035"/>
              <a:gd name="connsiteY5" fmla="*/ 0 h 10009"/>
              <a:gd name="connsiteX0" fmla="*/ 0 w 10000"/>
              <a:gd name="connsiteY0" fmla="*/ 0 h 10000"/>
              <a:gd name="connsiteX1" fmla="*/ 7052 w 10000"/>
              <a:gd name="connsiteY1" fmla="*/ 0 h 10000"/>
              <a:gd name="connsiteX2" fmla="*/ 7190 w 10000"/>
              <a:gd name="connsiteY2" fmla="*/ 9415 h 10000"/>
              <a:gd name="connsiteX3" fmla="*/ 10000 w 10000"/>
              <a:gd name="connsiteY3" fmla="*/ 10000 h 10000"/>
              <a:gd name="connsiteX4" fmla="*/ 66 w 10000"/>
              <a:gd name="connsiteY4" fmla="*/ 9989 h 10000"/>
              <a:gd name="connsiteX5" fmla="*/ 0 w 10000"/>
              <a:gd name="connsiteY5" fmla="*/ 0 h 10000"/>
              <a:gd name="connsiteX0" fmla="*/ 0 w 10000"/>
              <a:gd name="connsiteY0" fmla="*/ 0 h 10002"/>
              <a:gd name="connsiteX1" fmla="*/ 7052 w 10000"/>
              <a:gd name="connsiteY1" fmla="*/ 0 h 10002"/>
              <a:gd name="connsiteX2" fmla="*/ 7190 w 10000"/>
              <a:gd name="connsiteY2" fmla="*/ 9415 h 10002"/>
              <a:gd name="connsiteX3" fmla="*/ 10000 w 10000"/>
              <a:gd name="connsiteY3" fmla="*/ 10000 h 10002"/>
              <a:gd name="connsiteX4" fmla="*/ 23 w 10000"/>
              <a:gd name="connsiteY4" fmla="*/ 10002 h 10002"/>
              <a:gd name="connsiteX5" fmla="*/ 0 w 10000"/>
              <a:gd name="connsiteY5" fmla="*/ 0 h 10002"/>
              <a:gd name="connsiteX0" fmla="*/ 164 w 10164"/>
              <a:gd name="connsiteY0" fmla="*/ 0 h 10000"/>
              <a:gd name="connsiteX1" fmla="*/ 7216 w 10164"/>
              <a:gd name="connsiteY1" fmla="*/ 0 h 10000"/>
              <a:gd name="connsiteX2" fmla="*/ 7354 w 10164"/>
              <a:gd name="connsiteY2" fmla="*/ 9415 h 10000"/>
              <a:gd name="connsiteX3" fmla="*/ 10164 w 10164"/>
              <a:gd name="connsiteY3" fmla="*/ 10000 h 10000"/>
              <a:gd name="connsiteX4" fmla="*/ 2 w 10164"/>
              <a:gd name="connsiteY4" fmla="*/ 9999 h 10000"/>
              <a:gd name="connsiteX5" fmla="*/ 164 w 10164"/>
              <a:gd name="connsiteY5" fmla="*/ 0 h 10000"/>
              <a:gd name="connsiteX0" fmla="*/ 163 w 10163"/>
              <a:gd name="connsiteY0" fmla="*/ 0 h 10000"/>
              <a:gd name="connsiteX1" fmla="*/ 7215 w 10163"/>
              <a:gd name="connsiteY1" fmla="*/ 0 h 10000"/>
              <a:gd name="connsiteX2" fmla="*/ 7353 w 10163"/>
              <a:gd name="connsiteY2" fmla="*/ 9415 h 10000"/>
              <a:gd name="connsiteX3" fmla="*/ 10163 w 10163"/>
              <a:gd name="connsiteY3" fmla="*/ 10000 h 10000"/>
              <a:gd name="connsiteX4" fmla="*/ 1 w 10163"/>
              <a:gd name="connsiteY4" fmla="*/ 9999 h 10000"/>
              <a:gd name="connsiteX5" fmla="*/ 163 w 10163"/>
              <a:gd name="connsiteY5" fmla="*/ 0 h 10000"/>
              <a:gd name="connsiteX0" fmla="*/ 0 w 10174"/>
              <a:gd name="connsiteY0" fmla="*/ 0 h 10000"/>
              <a:gd name="connsiteX1" fmla="*/ 7226 w 10174"/>
              <a:gd name="connsiteY1" fmla="*/ 0 h 10000"/>
              <a:gd name="connsiteX2" fmla="*/ 7364 w 10174"/>
              <a:gd name="connsiteY2" fmla="*/ 9415 h 10000"/>
              <a:gd name="connsiteX3" fmla="*/ 10174 w 10174"/>
              <a:gd name="connsiteY3" fmla="*/ 10000 h 10000"/>
              <a:gd name="connsiteX4" fmla="*/ 12 w 10174"/>
              <a:gd name="connsiteY4" fmla="*/ 9999 h 10000"/>
              <a:gd name="connsiteX5" fmla="*/ 0 w 10174"/>
              <a:gd name="connsiteY5" fmla="*/ 0 h 10000"/>
              <a:gd name="connsiteX0" fmla="*/ 0 w 10174"/>
              <a:gd name="connsiteY0" fmla="*/ 0 h 10000"/>
              <a:gd name="connsiteX1" fmla="*/ 7226 w 10174"/>
              <a:gd name="connsiteY1" fmla="*/ 0 h 10000"/>
              <a:gd name="connsiteX2" fmla="*/ 7364 w 10174"/>
              <a:gd name="connsiteY2" fmla="*/ 9415 h 10000"/>
              <a:gd name="connsiteX3" fmla="*/ 10174 w 10174"/>
              <a:gd name="connsiteY3" fmla="*/ 10000 h 10000"/>
              <a:gd name="connsiteX4" fmla="*/ 12 w 10174"/>
              <a:gd name="connsiteY4" fmla="*/ 9999 h 10000"/>
              <a:gd name="connsiteX5" fmla="*/ 0 w 10174"/>
              <a:gd name="connsiteY5" fmla="*/ 0 h 10000"/>
              <a:gd name="connsiteX0" fmla="*/ 0 w 10174"/>
              <a:gd name="connsiteY0" fmla="*/ 3 h 10003"/>
              <a:gd name="connsiteX1" fmla="*/ 7335 w 10174"/>
              <a:gd name="connsiteY1" fmla="*/ 0 h 10003"/>
              <a:gd name="connsiteX2" fmla="*/ 7364 w 10174"/>
              <a:gd name="connsiteY2" fmla="*/ 9418 h 10003"/>
              <a:gd name="connsiteX3" fmla="*/ 10174 w 10174"/>
              <a:gd name="connsiteY3" fmla="*/ 10003 h 10003"/>
              <a:gd name="connsiteX4" fmla="*/ 12 w 10174"/>
              <a:gd name="connsiteY4" fmla="*/ 10002 h 10003"/>
              <a:gd name="connsiteX5" fmla="*/ 0 w 10174"/>
              <a:gd name="connsiteY5" fmla="*/ 3 h 10003"/>
              <a:gd name="connsiteX0" fmla="*/ 0 w 10174"/>
              <a:gd name="connsiteY0" fmla="*/ 6 h 10006"/>
              <a:gd name="connsiteX1" fmla="*/ 7346 w 10174"/>
              <a:gd name="connsiteY1" fmla="*/ 0 h 10006"/>
              <a:gd name="connsiteX2" fmla="*/ 7364 w 10174"/>
              <a:gd name="connsiteY2" fmla="*/ 9421 h 10006"/>
              <a:gd name="connsiteX3" fmla="*/ 10174 w 10174"/>
              <a:gd name="connsiteY3" fmla="*/ 10006 h 10006"/>
              <a:gd name="connsiteX4" fmla="*/ 12 w 10174"/>
              <a:gd name="connsiteY4" fmla="*/ 10005 h 10006"/>
              <a:gd name="connsiteX5" fmla="*/ 0 w 10174"/>
              <a:gd name="connsiteY5" fmla="*/ 6 h 10006"/>
              <a:gd name="connsiteX0" fmla="*/ 0 w 10174"/>
              <a:gd name="connsiteY0" fmla="*/ 6 h 10006"/>
              <a:gd name="connsiteX1" fmla="*/ 7346 w 10174"/>
              <a:gd name="connsiteY1" fmla="*/ 0 h 10006"/>
              <a:gd name="connsiteX2" fmla="*/ 7364 w 10174"/>
              <a:gd name="connsiteY2" fmla="*/ 9421 h 10006"/>
              <a:gd name="connsiteX3" fmla="*/ 10174 w 10174"/>
              <a:gd name="connsiteY3" fmla="*/ 10006 h 10006"/>
              <a:gd name="connsiteX4" fmla="*/ 12 w 10174"/>
              <a:gd name="connsiteY4" fmla="*/ 10005 h 10006"/>
              <a:gd name="connsiteX5" fmla="*/ 0 w 10174"/>
              <a:gd name="connsiteY5" fmla="*/ 6 h 10006"/>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0 w 9613"/>
              <a:gd name="connsiteY0" fmla="*/ 3 h 10009"/>
              <a:gd name="connsiteX1" fmla="*/ 6785 w 9613"/>
              <a:gd name="connsiteY1" fmla="*/ 0 h 10009"/>
              <a:gd name="connsiteX2" fmla="*/ 6803 w 9613"/>
              <a:gd name="connsiteY2" fmla="*/ 9424 h 10009"/>
              <a:gd name="connsiteX3" fmla="*/ 9613 w 9613"/>
              <a:gd name="connsiteY3" fmla="*/ 10009 h 10009"/>
              <a:gd name="connsiteX4" fmla="*/ 95 w 9613"/>
              <a:gd name="connsiteY4" fmla="*/ 9998 h 10009"/>
              <a:gd name="connsiteX5" fmla="*/ 0 w 9613"/>
              <a:gd name="connsiteY5" fmla="*/ 3 h 10009"/>
              <a:gd name="connsiteX0" fmla="*/ 0 w 10000"/>
              <a:gd name="connsiteY0" fmla="*/ 3 h 10000"/>
              <a:gd name="connsiteX1" fmla="*/ 7058 w 10000"/>
              <a:gd name="connsiteY1" fmla="*/ 0 h 10000"/>
              <a:gd name="connsiteX2" fmla="*/ 7077 w 10000"/>
              <a:gd name="connsiteY2" fmla="*/ 9416 h 10000"/>
              <a:gd name="connsiteX3" fmla="*/ 10000 w 10000"/>
              <a:gd name="connsiteY3" fmla="*/ 10000 h 10000"/>
              <a:gd name="connsiteX4" fmla="*/ 14 w 10000"/>
              <a:gd name="connsiteY4" fmla="*/ 9999 h 10000"/>
              <a:gd name="connsiteX5" fmla="*/ 0 w 10000"/>
              <a:gd name="connsiteY5" fmla="*/ 3 h 10000"/>
              <a:gd name="connsiteX0" fmla="*/ 0 w 10000"/>
              <a:gd name="connsiteY0" fmla="*/ 3 h 10000"/>
              <a:gd name="connsiteX1" fmla="*/ 7058 w 10000"/>
              <a:gd name="connsiteY1" fmla="*/ 0 h 10000"/>
              <a:gd name="connsiteX2" fmla="*/ 7077 w 10000"/>
              <a:gd name="connsiteY2" fmla="*/ 9416 h 10000"/>
              <a:gd name="connsiteX3" fmla="*/ 10000 w 10000"/>
              <a:gd name="connsiteY3" fmla="*/ 10000 h 10000"/>
              <a:gd name="connsiteX4" fmla="*/ 14 w 10000"/>
              <a:gd name="connsiteY4" fmla="*/ 9999 h 10000"/>
              <a:gd name="connsiteX5" fmla="*/ 0 w 10000"/>
              <a:gd name="connsiteY5" fmla="*/ 3 h 10000"/>
              <a:gd name="connsiteX0" fmla="*/ 18 w 10018"/>
              <a:gd name="connsiteY0" fmla="*/ 3 h 10000"/>
              <a:gd name="connsiteX1" fmla="*/ 7076 w 10018"/>
              <a:gd name="connsiteY1" fmla="*/ 0 h 10000"/>
              <a:gd name="connsiteX2" fmla="*/ 7095 w 10018"/>
              <a:gd name="connsiteY2" fmla="*/ 9416 h 10000"/>
              <a:gd name="connsiteX3" fmla="*/ 10018 w 10018"/>
              <a:gd name="connsiteY3" fmla="*/ 10000 h 10000"/>
              <a:gd name="connsiteX4" fmla="*/ 32 w 10018"/>
              <a:gd name="connsiteY4" fmla="*/ 9999 h 10000"/>
              <a:gd name="connsiteX5" fmla="*/ 18 w 10018"/>
              <a:gd name="connsiteY5" fmla="*/ 3 h 10000"/>
              <a:gd name="connsiteX0" fmla="*/ 0 w 10065"/>
              <a:gd name="connsiteY0" fmla="*/ 3 h 10000"/>
              <a:gd name="connsiteX1" fmla="*/ 7123 w 10065"/>
              <a:gd name="connsiteY1" fmla="*/ 0 h 10000"/>
              <a:gd name="connsiteX2" fmla="*/ 7142 w 10065"/>
              <a:gd name="connsiteY2" fmla="*/ 9416 h 10000"/>
              <a:gd name="connsiteX3" fmla="*/ 10065 w 10065"/>
              <a:gd name="connsiteY3" fmla="*/ 10000 h 10000"/>
              <a:gd name="connsiteX4" fmla="*/ 79 w 10065"/>
              <a:gd name="connsiteY4" fmla="*/ 9999 h 10000"/>
              <a:gd name="connsiteX5" fmla="*/ 0 w 10065"/>
              <a:gd name="connsiteY5" fmla="*/ 3 h 10000"/>
              <a:gd name="connsiteX0" fmla="*/ 0 w 10065"/>
              <a:gd name="connsiteY0" fmla="*/ 3 h 10000"/>
              <a:gd name="connsiteX1" fmla="*/ 7123 w 10065"/>
              <a:gd name="connsiteY1" fmla="*/ 0 h 10000"/>
              <a:gd name="connsiteX2" fmla="*/ 7142 w 10065"/>
              <a:gd name="connsiteY2" fmla="*/ 9416 h 10000"/>
              <a:gd name="connsiteX3" fmla="*/ 10065 w 10065"/>
              <a:gd name="connsiteY3" fmla="*/ 10000 h 10000"/>
              <a:gd name="connsiteX4" fmla="*/ 79 w 10065"/>
              <a:gd name="connsiteY4" fmla="*/ 9999 h 10000"/>
              <a:gd name="connsiteX5" fmla="*/ 0 w 10065"/>
              <a:gd name="connsiteY5" fmla="*/ 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65" h="10000">
                <a:moveTo>
                  <a:pt x="0" y="3"/>
                </a:moveTo>
                <a:lnTo>
                  <a:pt x="7123" y="0"/>
                </a:lnTo>
                <a:cubicBezTo>
                  <a:pt x="7114" y="2528"/>
                  <a:pt x="7133" y="8825"/>
                  <a:pt x="7142" y="9416"/>
                </a:cubicBezTo>
                <a:cubicBezTo>
                  <a:pt x="7117" y="9743"/>
                  <a:pt x="8449" y="10000"/>
                  <a:pt x="10065" y="10000"/>
                </a:cubicBezTo>
                <a:lnTo>
                  <a:pt x="79" y="9999"/>
                </a:lnTo>
                <a:cubicBezTo>
                  <a:pt x="7" y="7401"/>
                  <a:pt x="15" y="1749"/>
                  <a:pt x="0" y="3"/>
                </a:cubicBezTo>
                <a:close/>
              </a:path>
            </a:pathLst>
          </a:custGeom>
          <a:solidFill>
            <a:srgbClr val="65A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50"/>
          </a:p>
        </p:txBody>
      </p:sp>
    </p:spTree>
    <p:extLst>
      <p:ext uri="{BB962C8B-B14F-4D97-AF65-F5344CB8AC3E}">
        <p14:creationId xmlns:p14="http://schemas.microsoft.com/office/powerpoint/2010/main" val="1752252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ystematic Review / Meta-analysis">
    <p:spTree>
      <p:nvGrpSpPr>
        <p:cNvPr id="1" name=""/>
        <p:cNvGrpSpPr/>
        <p:nvPr/>
      </p:nvGrpSpPr>
      <p:grpSpPr>
        <a:xfrm>
          <a:off x="0" y="0"/>
          <a:ext cx="0" cy="0"/>
          <a:chOff x="0" y="0"/>
          <a:chExt cx="0" cy="0"/>
        </a:xfrm>
      </p:grpSpPr>
      <p:sp>
        <p:nvSpPr>
          <p:cNvPr id="16" name="Flowchart: Stored Data 4">
            <a:extLst>
              <a:ext uri="{FF2B5EF4-FFF2-40B4-BE49-F238E27FC236}">
                <a16:creationId xmlns:a16="http://schemas.microsoft.com/office/drawing/2014/main" id="{6750A1AE-34CF-C798-885B-4AD2785F8297}"/>
              </a:ext>
            </a:extLst>
          </p:cNvPr>
          <p:cNvSpPr/>
          <p:nvPr userDrawn="1"/>
        </p:nvSpPr>
        <p:spPr>
          <a:xfrm rot="5400000">
            <a:off x="5284491" y="-4795876"/>
            <a:ext cx="1614236" cy="1221477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9991"/>
              <a:gd name="connsiteX1" fmla="*/ 7048 w 10056"/>
              <a:gd name="connsiteY1" fmla="*/ 0 h 9991"/>
              <a:gd name="connsiteX2" fmla="*/ 6988 w 10056"/>
              <a:gd name="connsiteY2" fmla="*/ 9628 h 9991"/>
              <a:gd name="connsiteX3" fmla="*/ 10056 w 10056"/>
              <a:gd name="connsiteY3" fmla="*/ 9987 h 9991"/>
              <a:gd name="connsiteX4" fmla="*/ 129 w 10056"/>
              <a:gd name="connsiteY4" fmla="*/ 9991 h 9991"/>
              <a:gd name="connsiteX5" fmla="*/ 0 w 10056"/>
              <a:gd name="connsiteY5" fmla="*/ 4 h 9991"/>
              <a:gd name="connsiteX0" fmla="*/ 0 w 10000"/>
              <a:gd name="connsiteY0" fmla="*/ 4 h 9996"/>
              <a:gd name="connsiteX1" fmla="*/ 7009 w 10000"/>
              <a:gd name="connsiteY1" fmla="*/ 0 h 9996"/>
              <a:gd name="connsiteX2" fmla="*/ 6949 w 10000"/>
              <a:gd name="connsiteY2" fmla="*/ 9637 h 9996"/>
              <a:gd name="connsiteX3" fmla="*/ 10000 w 10000"/>
              <a:gd name="connsiteY3" fmla="*/ 9996 h 9996"/>
              <a:gd name="connsiteX4" fmla="*/ 128 w 10000"/>
              <a:gd name="connsiteY4" fmla="*/ 9992 h 9996"/>
              <a:gd name="connsiteX5" fmla="*/ 0 w 10000"/>
              <a:gd name="connsiteY5" fmla="*/ 4 h 9996"/>
              <a:gd name="connsiteX0" fmla="*/ 0 w 10000"/>
              <a:gd name="connsiteY0" fmla="*/ 4 h 10000"/>
              <a:gd name="connsiteX1" fmla="*/ 7009 w 10000"/>
              <a:gd name="connsiteY1" fmla="*/ 0 h 10000"/>
              <a:gd name="connsiteX2" fmla="*/ 6949 w 10000"/>
              <a:gd name="connsiteY2" fmla="*/ 9641 h 10000"/>
              <a:gd name="connsiteX3" fmla="*/ 10000 w 10000"/>
              <a:gd name="connsiteY3" fmla="*/ 10000 h 10000"/>
              <a:gd name="connsiteX4" fmla="*/ 128 w 10000"/>
              <a:gd name="connsiteY4" fmla="*/ 9996 h 10000"/>
              <a:gd name="connsiteX5" fmla="*/ 0 w 10000"/>
              <a:gd name="connsiteY5" fmla="*/ 4 h 10000"/>
              <a:gd name="connsiteX0" fmla="*/ 0 w 10000"/>
              <a:gd name="connsiteY0" fmla="*/ 4 h 10000"/>
              <a:gd name="connsiteX1" fmla="*/ 7009 w 10000"/>
              <a:gd name="connsiteY1" fmla="*/ 0 h 10000"/>
              <a:gd name="connsiteX2" fmla="*/ 6949 w 10000"/>
              <a:gd name="connsiteY2" fmla="*/ 9641 h 10000"/>
              <a:gd name="connsiteX3" fmla="*/ 10000 w 10000"/>
              <a:gd name="connsiteY3" fmla="*/ 10000 h 10000"/>
              <a:gd name="connsiteX4" fmla="*/ 128 w 10000"/>
              <a:gd name="connsiteY4" fmla="*/ 9996 h 10000"/>
              <a:gd name="connsiteX5" fmla="*/ 0 w 10000"/>
              <a:gd name="connsiteY5" fmla="*/ 4 h 10000"/>
              <a:gd name="connsiteX0" fmla="*/ 0 w 10000"/>
              <a:gd name="connsiteY0" fmla="*/ 4 h 10000"/>
              <a:gd name="connsiteX1" fmla="*/ 7009 w 10000"/>
              <a:gd name="connsiteY1" fmla="*/ 0 h 10000"/>
              <a:gd name="connsiteX2" fmla="*/ 6949 w 10000"/>
              <a:gd name="connsiteY2" fmla="*/ 9641 h 10000"/>
              <a:gd name="connsiteX3" fmla="*/ 10000 w 10000"/>
              <a:gd name="connsiteY3" fmla="*/ 10000 h 10000"/>
              <a:gd name="connsiteX4" fmla="*/ 128 w 10000"/>
              <a:gd name="connsiteY4" fmla="*/ 9996 h 10000"/>
              <a:gd name="connsiteX5" fmla="*/ 0 w 10000"/>
              <a:gd name="connsiteY5" fmla="*/ 4 h 10000"/>
              <a:gd name="connsiteX0" fmla="*/ 0 w 10000"/>
              <a:gd name="connsiteY0" fmla="*/ 4 h 10004"/>
              <a:gd name="connsiteX1" fmla="*/ 7009 w 10000"/>
              <a:gd name="connsiteY1" fmla="*/ 0 h 10004"/>
              <a:gd name="connsiteX2" fmla="*/ 6949 w 10000"/>
              <a:gd name="connsiteY2" fmla="*/ 9641 h 10004"/>
              <a:gd name="connsiteX3" fmla="*/ 10000 w 10000"/>
              <a:gd name="connsiteY3" fmla="*/ 10000 h 10004"/>
              <a:gd name="connsiteX4" fmla="*/ 128 w 10000"/>
              <a:gd name="connsiteY4" fmla="*/ 10004 h 10004"/>
              <a:gd name="connsiteX5" fmla="*/ 0 w 10000"/>
              <a:gd name="connsiteY5" fmla="*/ 4 h 1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4">
                <a:moveTo>
                  <a:pt x="0" y="4"/>
                </a:moveTo>
                <a:lnTo>
                  <a:pt x="7009" y="0"/>
                </a:lnTo>
                <a:cubicBezTo>
                  <a:pt x="6847" y="1556"/>
                  <a:pt x="6821" y="9283"/>
                  <a:pt x="6949" y="9641"/>
                </a:cubicBezTo>
                <a:cubicBezTo>
                  <a:pt x="6923" y="9843"/>
                  <a:pt x="8314" y="10000"/>
                  <a:pt x="10000" y="10000"/>
                </a:cubicBezTo>
                <a:lnTo>
                  <a:pt x="128" y="10004"/>
                </a:lnTo>
                <a:cubicBezTo>
                  <a:pt x="97" y="8408"/>
                  <a:pt x="98" y="1073"/>
                  <a:pt x="0" y="4"/>
                </a:cubicBezTo>
                <a:close/>
              </a:path>
            </a:pathLst>
          </a:custGeom>
          <a:solidFill>
            <a:srgbClr val="860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
        <p:nvSpPr>
          <p:cNvPr id="5" name="Flowchart: Stored Data 4">
            <a:extLst>
              <a:ext uri="{FF2B5EF4-FFF2-40B4-BE49-F238E27FC236}">
                <a16:creationId xmlns:a16="http://schemas.microsoft.com/office/drawing/2014/main" id="{D150C2D2-09E4-F78B-7FA6-F42DD5FA59F4}"/>
              </a:ext>
            </a:extLst>
          </p:cNvPr>
          <p:cNvSpPr/>
          <p:nvPr userDrawn="1"/>
        </p:nvSpPr>
        <p:spPr>
          <a:xfrm rot="5400000">
            <a:off x="5283465" y="-5325515"/>
            <a:ext cx="1614236" cy="1221477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0 h 9996"/>
              <a:gd name="connsiteX1" fmla="*/ 7001 w 10056"/>
              <a:gd name="connsiteY1" fmla="*/ 1 h 9996"/>
              <a:gd name="connsiteX2" fmla="*/ 6988 w 10056"/>
              <a:gd name="connsiteY2" fmla="*/ 9624 h 9996"/>
              <a:gd name="connsiteX3" fmla="*/ 10056 w 10056"/>
              <a:gd name="connsiteY3" fmla="*/ 9983 h 9996"/>
              <a:gd name="connsiteX4" fmla="*/ 62 w 10056"/>
              <a:gd name="connsiteY4" fmla="*/ 9996 h 9996"/>
              <a:gd name="connsiteX5" fmla="*/ 0 w 10056"/>
              <a:gd name="connsiteY5" fmla="*/ 0 h 9996"/>
              <a:gd name="connsiteX0" fmla="*/ 0 w 10000"/>
              <a:gd name="connsiteY0" fmla="*/ 2 h 10002"/>
              <a:gd name="connsiteX1" fmla="*/ 6962 w 10000"/>
              <a:gd name="connsiteY1" fmla="*/ 0 h 10002"/>
              <a:gd name="connsiteX2" fmla="*/ 6949 w 10000"/>
              <a:gd name="connsiteY2" fmla="*/ 9630 h 10002"/>
              <a:gd name="connsiteX3" fmla="*/ 10000 w 10000"/>
              <a:gd name="connsiteY3" fmla="*/ 9989 h 10002"/>
              <a:gd name="connsiteX4" fmla="*/ 62 w 10000"/>
              <a:gd name="connsiteY4" fmla="*/ 10002 h 10002"/>
              <a:gd name="connsiteX5" fmla="*/ 0 w 10000"/>
              <a:gd name="connsiteY5" fmla="*/ 2 h 10002"/>
              <a:gd name="connsiteX0" fmla="*/ 0 w 10000"/>
              <a:gd name="connsiteY0" fmla="*/ 4 h 10004"/>
              <a:gd name="connsiteX1" fmla="*/ 6927 w 10000"/>
              <a:gd name="connsiteY1" fmla="*/ 0 h 10004"/>
              <a:gd name="connsiteX2" fmla="*/ 6949 w 10000"/>
              <a:gd name="connsiteY2" fmla="*/ 9632 h 10004"/>
              <a:gd name="connsiteX3" fmla="*/ 10000 w 10000"/>
              <a:gd name="connsiteY3" fmla="*/ 9991 h 10004"/>
              <a:gd name="connsiteX4" fmla="*/ 62 w 10000"/>
              <a:gd name="connsiteY4" fmla="*/ 10004 h 10004"/>
              <a:gd name="connsiteX5" fmla="*/ 0 w 10000"/>
              <a:gd name="connsiteY5" fmla="*/ 4 h 10004"/>
              <a:gd name="connsiteX0" fmla="*/ 0 w 10000"/>
              <a:gd name="connsiteY0" fmla="*/ 4 h 10004"/>
              <a:gd name="connsiteX1" fmla="*/ 6927 w 10000"/>
              <a:gd name="connsiteY1" fmla="*/ 0 h 10004"/>
              <a:gd name="connsiteX2" fmla="*/ 6949 w 10000"/>
              <a:gd name="connsiteY2" fmla="*/ 9632 h 10004"/>
              <a:gd name="connsiteX3" fmla="*/ 10000 w 10000"/>
              <a:gd name="connsiteY3" fmla="*/ 9991 h 10004"/>
              <a:gd name="connsiteX4" fmla="*/ 62 w 10000"/>
              <a:gd name="connsiteY4" fmla="*/ 10004 h 10004"/>
              <a:gd name="connsiteX5" fmla="*/ 0 w 10000"/>
              <a:gd name="connsiteY5" fmla="*/ 4 h 1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4">
                <a:moveTo>
                  <a:pt x="0" y="4"/>
                </a:moveTo>
                <a:lnTo>
                  <a:pt x="6927" y="0"/>
                </a:lnTo>
                <a:cubicBezTo>
                  <a:pt x="6894" y="1547"/>
                  <a:pt x="6891" y="9283"/>
                  <a:pt x="6949" y="9632"/>
                </a:cubicBezTo>
                <a:cubicBezTo>
                  <a:pt x="6923" y="9834"/>
                  <a:pt x="8645" y="9997"/>
                  <a:pt x="10000" y="9991"/>
                </a:cubicBezTo>
                <a:lnTo>
                  <a:pt x="62" y="10004"/>
                </a:lnTo>
                <a:cubicBezTo>
                  <a:pt x="31" y="8409"/>
                  <a:pt x="98" y="1072"/>
                  <a:pt x="0" y="4"/>
                </a:cubicBezTo>
                <a:close/>
              </a:path>
            </a:pathLst>
          </a:custGeom>
          <a:solidFill>
            <a:srgbClr val="AA00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p:cNvSpPr/>
          <p:nvPr userDrawn="1"/>
        </p:nvSpPr>
        <p:spPr>
          <a:xfrm>
            <a:off x="7490690" y="5672093"/>
            <a:ext cx="4702823" cy="421061"/>
          </a:xfrm>
          <a:prstGeom prst="rect">
            <a:avLst/>
          </a:prstGeom>
          <a:solidFill>
            <a:srgbClr val="65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3" name="Group 12"/>
          <p:cNvGrpSpPr/>
          <p:nvPr userDrawn="1"/>
        </p:nvGrpSpPr>
        <p:grpSpPr>
          <a:xfrm>
            <a:off x="7637330" y="6112457"/>
            <a:ext cx="4174624" cy="723275"/>
            <a:chOff x="7646796" y="6098813"/>
            <a:chExt cx="4174624" cy="723275"/>
          </a:xfrm>
        </p:grpSpPr>
        <p:pic>
          <p:nvPicPr>
            <p:cNvPr id="14" name="Picture 10" descr="LOGO_IPNA_Blu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46796" y="6186597"/>
              <a:ext cx="581637" cy="58163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2"/>
            <p:cNvSpPr>
              <a:spLocks noChangeArrowheads="1"/>
            </p:cNvSpPr>
            <p:nvPr/>
          </p:nvSpPr>
          <p:spPr bwMode="auto">
            <a:xfrm>
              <a:off x="8208157" y="6098813"/>
              <a:ext cx="3613263"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1" i="0" u="none" strike="noStrike" cap="none" normalizeH="0" baseline="0" dirty="0">
                  <a:ln>
                    <a:noFill/>
                  </a:ln>
                  <a:solidFill>
                    <a:srgbClr val="296DC0"/>
                  </a:solidFill>
                  <a:effectLst/>
                  <a:latin typeface="Arial" panose="020B0604020202020204" pitchFamily="34" charset="0"/>
                  <a:ea typeface="Calibri" panose="020F0502020204030204" pitchFamily="34" charset="0"/>
                  <a:cs typeface="Calibri" panose="020F0502020204030204" pitchFamily="34" charset="0"/>
                </a:rPr>
                <a:t>Pediatric Nephrology</a:t>
              </a:r>
              <a:endParaRPr kumimoji="0" lang="en-GB"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Journal of the </a:t>
              </a:r>
              <a:br>
                <a:rPr kumimoji="0" lang="en-GB" altLang="en-US"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br>
              <a:r>
                <a:rPr kumimoji="0" lang="en-GB" altLang="en-US" sz="12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International Pediatric Nephrology Association</a:t>
              </a:r>
              <a:endParaRPr kumimoji="0" lang="en-GB" altLang="en-US" sz="1200" b="0" i="0" u="none" strike="noStrike" cap="none" normalizeH="0" baseline="0" dirty="0">
                <a:ln>
                  <a:noFill/>
                </a:ln>
                <a:solidFill>
                  <a:schemeClr val="tx1"/>
                </a:solidFill>
                <a:effectLst/>
                <a:latin typeface="Arial" panose="020B0604020202020204" pitchFamily="34" charset="0"/>
              </a:endParaRPr>
            </a:p>
          </p:txBody>
        </p:sp>
      </p:grpSp>
      <p:sp>
        <p:nvSpPr>
          <p:cNvPr id="37" name="Rectangle 36">
            <a:extLst>
              <a:ext uri="{FF2B5EF4-FFF2-40B4-BE49-F238E27FC236}">
                <a16:creationId xmlns:a16="http://schemas.microsoft.com/office/drawing/2014/main" id="{FB861B61-643E-7D14-D771-2A7BF1205723}"/>
              </a:ext>
            </a:extLst>
          </p:cNvPr>
          <p:cNvSpPr/>
          <p:nvPr userDrawn="1"/>
        </p:nvSpPr>
        <p:spPr>
          <a:xfrm>
            <a:off x="10134600" y="-28393"/>
            <a:ext cx="2068286" cy="1119323"/>
          </a:xfrm>
          <a:prstGeom prst="rect">
            <a:avLst/>
          </a:prstGeom>
          <a:solidFill>
            <a:srgbClr val="003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p:cNvSpPr txBox="1"/>
          <p:nvPr/>
        </p:nvSpPr>
        <p:spPr>
          <a:xfrm>
            <a:off x="10626853" y="297104"/>
            <a:ext cx="1441475" cy="419695"/>
          </a:xfrm>
          <a:prstGeom prst="rect">
            <a:avLst/>
          </a:prstGeom>
          <a:noFill/>
        </p:spPr>
        <p:txBody>
          <a:bodyPr wrap="square" rtlCol="0">
            <a:spAutoFit/>
          </a:bodyPr>
          <a:lstStyle/>
          <a:p>
            <a:r>
              <a:rPr lang="en-GB" sz="2400" dirty="0">
                <a:solidFill>
                  <a:schemeClr val="bg1"/>
                </a:solidFill>
              </a:rPr>
              <a:t>Review/</a:t>
            </a:r>
          </a:p>
        </p:txBody>
      </p:sp>
      <p:sp>
        <p:nvSpPr>
          <p:cNvPr id="18" name="TextBox 17"/>
          <p:cNvSpPr txBox="1"/>
          <p:nvPr/>
        </p:nvSpPr>
        <p:spPr>
          <a:xfrm>
            <a:off x="10361243" y="16591"/>
            <a:ext cx="1747805" cy="419695"/>
          </a:xfrm>
          <a:prstGeom prst="rect">
            <a:avLst/>
          </a:prstGeom>
          <a:noFill/>
        </p:spPr>
        <p:txBody>
          <a:bodyPr wrap="square" rtlCol="0">
            <a:spAutoFit/>
          </a:bodyPr>
          <a:lstStyle/>
          <a:p>
            <a:r>
              <a:rPr lang="en-GB" sz="2400" dirty="0">
                <a:solidFill>
                  <a:schemeClr val="bg1"/>
                </a:solidFill>
              </a:rPr>
              <a:t>Systematic</a:t>
            </a:r>
          </a:p>
        </p:txBody>
      </p:sp>
      <p:sp>
        <p:nvSpPr>
          <p:cNvPr id="29" name="Flowchart: Stored Data 4">
            <a:extLst>
              <a:ext uri="{FF2B5EF4-FFF2-40B4-BE49-F238E27FC236}">
                <a16:creationId xmlns:a16="http://schemas.microsoft.com/office/drawing/2014/main" id="{17034CCF-1EDD-D498-AB89-09358AFA3492}"/>
              </a:ext>
            </a:extLst>
          </p:cNvPr>
          <p:cNvSpPr/>
          <p:nvPr userDrawn="1"/>
        </p:nvSpPr>
        <p:spPr>
          <a:xfrm rot="16200000" flipV="1">
            <a:off x="2901409" y="2274353"/>
            <a:ext cx="1684645" cy="7491425"/>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38798 h 49391"/>
              <a:gd name="connsiteX1" fmla="*/ 7817 w 10000"/>
              <a:gd name="connsiteY1" fmla="*/ 0 h 49391"/>
              <a:gd name="connsiteX2" fmla="*/ 8333 w 10000"/>
              <a:gd name="connsiteY2" fmla="*/ 43798 h 49391"/>
              <a:gd name="connsiteX3" fmla="*/ 10000 w 10000"/>
              <a:gd name="connsiteY3" fmla="*/ 48798 h 49391"/>
              <a:gd name="connsiteX4" fmla="*/ 1667 w 10000"/>
              <a:gd name="connsiteY4" fmla="*/ 48798 h 49391"/>
              <a:gd name="connsiteX5" fmla="*/ 0 w 10000"/>
              <a:gd name="connsiteY5" fmla="*/ 43798 h 49391"/>
              <a:gd name="connsiteX6" fmla="*/ 1667 w 10000"/>
              <a:gd name="connsiteY6" fmla="*/ 38798 h 49391"/>
              <a:gd name="connsiteX0" fmla="*/ 1667 w 10000"/>
              <a:gd name="connsiteY0" fmla="*/ 89795 h 103750"/>
              <a:gd name="connsiteX1" fmla="*/ 8293 w 10000"/>
              <a:gd name="connsiteY1" fmla="*/ 0 h 103750"/>
              <a:gd name="connsiteX2" fmla="*/ 8333 w 10000"/>
              <a:gd name="connsiteY2" fmla="*/ 94795 h 103750"/>
              <a:gd name="connsiteX3" fmla="*/ 10000 w 10000"/>
              <a:gd name="connsiteY3" fmla="*/ 99795 h 103750"/>
              <a:gd name="connsiteX4" fmla="*/ 1667 w 10000"/>
              <a:gd name="connsiteY4" fmla="*/ 99795 h 103750"/>
              <a:gd name="connsiteX5" fmla="*/ 0 w 10000"/>
              <a:gd name="connsiteY5" fmla="*/ 94795 h 103750"/>
              <a:gd name="connsiteX6" fmla="*/ 1667 w 10000"/>
              <a:gd name="connsiteY6" fmla="*/ 89795 h 10375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87862 h 101680"/>
              <a:gd name="connsiteX1" fmla="*/ 7836 w 10000"/>
              <a:gd name="connsiteY1" fmla="*/ 0 h 101680"/>
              <a:gd name="connsiteX2" fmla="*/ 8333 w 10000"/>
              <a:gd name="connsiteY2" fmla="*/ 92862 h 101680"/>
              <a:gd name="connsiteX3" fmla="*/ 10000 w 10000"/>
              <a:gd name="connsiteY3" fmla="*/ 97862 h 101680"/>
              <a:gd name="connsiteX4" fmla="*/ 1667 w 10000"/>
              <a:gd name="connsiteY4" fmla="*/ 97862 h 101680"/>
              <a:gd name="connsiteX5" fmla="*/ 0 w 10000"/>
              <a:gd name="connsiteY5" fmla="*/ 92862 h 101680"/>
              <a:gd name="connsiteX6" fmla="*/ 1667 w 10000"/>
              <a:gd name="connsiteY6" fmla="*/ 87862 h 101680"/>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1667 w 10000"/>
              <a:gd name="connsiteY0" fmla="*/ 93062 h 107249"/>
              <a:gd name="connsiteX1" fmla="*/ 8511 w 10000"/>
              <a:gd name="connsiteY1" fmla="*/ 0 h 107249"/>
              <a:gd name="connsiteX2" fmla="*/ 8333 w 10000"/>
              <a:gd name="connsiteY2" fmla="*/ 98062 h 107249"/>
              <a:gd name="connsiteX3" fmla="*/ 10000 w 10000"/>
              <a:gd name="connsiteY3" fmla="*/ 103062 h 107249"/>
              <a:gd name="connsiteX4" fmla="*/ 1667 w 10000"/>
              <a:gd name="connsiteY4" fmla="*/ 103062 h 107249"/>
              <a:gd name="connsiteX5" fmla="*/ 0 w 10000"/>
              <a:gd name="connsiteY5" fmla="*/ 98062 h 107249"/>
              <a:gd name="connsiteX6" fmla="*/ 1667 w 10000"/>
              <a:gd name="connsiteY6" fmla="*/ 93062 h 107249"/>
              <a:gd name="connsiteX0" fmla="*/ 5639 w 10161"/>
              <a:gd name="connsiteY0" fmla="*/ 18392 h 112308"/>
              <a:gd name="connsiteX1" fmla="*/ 8672 w 10161"/>
              <a:gd name="connsiteY1" fmla="*/ 5059 h 112308"/>
              <a:gd name="connsiteX2" fmla="*/ 8494 w 10161"/>
              <a:gd name="connsiteY2" fmla="*/ 103121 h 112308"/>
              <a:gd name="connsiteX3" fmla="*/ 10161 w 10161"/>
              <a:gd name="connsiteY3" fmla="*/ 108121 h 112308"/>
              <a:gd name="connsiteX4" fmla="*/ 1828 w 10161"/>
              <a:gd name="connsiteY4" fmla="*/ 108121 h 112308"/>
              <a:gd name="connsiteX5" fmla="*/ 161 w 10161"/>
              <a:gd name="connsiteY5" fmla="*/ 103121 h 112308"/>
              <a:gd name="connsiteX6" fmla="*/ 5639 w 10161"/>
              <a:gd name="connsiteY6" fmla="*/ 18392 h 112308"/>
              <a:gd name="connsiteX0" fmla="*/ 5639 w 10161"/>
              <a:gd name="connsiteY0" fmla="*/ 48998 h 145481"/>
              <a:gd name="connsiteX1" fmla="*/ 8354 w 10161"/>
              <a:gd name="connsiteY1" fmla="*/ 0 h 145481"/>
              <a:gd name="connsiteX2" fmla="*/ 8494 w 10161"/>
              <a:gd name="connsiteY2" fmla="*/ 133727 h 145481"/>
              <a:gd name="connsiteX3" fmla="*/ 10161 w 10161"/>
              <a:gd name="connsiteY3" fmla="*/ 138727 h 145481"/>
              <a:gd name="connsiteX4" fmla="*/ 1828 w 10161"/>
              <a:gd name="connsiteY4" fmla="*/ 138727 h 145481"/>
              <a:gd name="connsiteX5" fmla="*/ 161 w 10161"/>
              <a:gd name="connsiteY5" fmla="*/ 133727 h 145481"/>
              <a:gd name="connsiteX6" fmla="*/ 5639 w 10161"/>
              <a:gd name="connsiteY6" fmla="*/ 48998 h 145481"/>
              <a:gd name="connsiteX0" fmla="*/ 4738 w 10113"/>
              <a:gd name="connsiteY0" fmla="*/ 13812 h 159292"/>
              <a:gd name="connsiteX1" fmla="*/ 8306 w 10113"/>
              <a:gd name="connsiteY1" fmla="*/ 13811 h 159292"/>
              <a:gd name="connsiteX2" fmla="*/ 8446 w 10113"/>
              <a:gd name="connsiteY2" fmla="*/ 147538 h 159292"/>
              <a:gd name="connsiteX3" fmla="*/ 10113 w 10113"/>
              <a:gd name="connsiteY3" fmla="*/ 152538 h 159292"/>
              <a:gd name="connsiteX4" fmla="*/ 1780 w 10113"/>
              <a:gd name="connsiteY4" fmla="*/ 152538 h 159292"/>
              <a:gd name="connsiteX5" fmla="*/ 113 w 10113"/>
              <a:gd name="connsiteY5" fmla="*/ 147538 h 159292"/>
              <a:gd name="connsiteX6" fmla="*/ 4738 w 10113"/>
              <a:gd name="connsiteY6" fmla="*/ 13812 h 159292"/>
              <a:gd name="connsiteX0" fmla="*/ 4738 w 10113"/>
              <a:gd name="connsiteY0" fmla="*/ 2870 h 148350"/>
              <a:gd name="connsiteX1" fmla="*/ 8306 w 10113"/>
              <a:gd name="connsiteY1" fmla="*/ 2869 h 148350"/>
              <a:gd name="connsiteX2" fmla="*/ 8446 w 10113"/>
              <a:gd name="connsiteY2" fmla="*/ 136596 h 148350"/>
              <a:gd name="connsiteX3" fmla="*/ 10113 w 10113"/>
              <a:gd name="connsiteY3" fmla="*/ 141596 h 148350"/>
              <a:gd name="connsiteX4" fmla="*/ 1780 w 10113"/>
              <a:gd name="connsiteY4" fmla="*/ 141596 h 148350"/>
              <a:gd name="connsiteX5" fmla="*/ 113 w 10113"/>
              <a:gd name="connsiteY5" fmla="*/ 136596 h 148350"/>
              <a:gd name="connsiteX6" fmla="*/ 4738 w 10113"/>
              <a:gd name="connsiteY6" fmla="*/ 2870 h 148350"/>
              <a:gd name="connsiteX0" fmla="*/ 4738 w 10113"/>
              <a:gd name="connsiteY0" fmla="*/ 51 h 145531"/>
              <a:gd name="connsiteX1" fmla="*/ 8306 w 10113"/>
              <a:gd name="connsiteY1" fmla="*/ 50 h 145531"/>
              <a:gd name="connsiteX2" fmla="*/ 8446 w 10113"/>
              <a:gd name="connsiteY2" fmla="*/ 133777 h 145531"/>
              <a:gd name="connsiteX3" fmla="*/ 10113 w 10113"/>
              <a:gd name="connsiteY3" fmla="*/ 138777 h 145531"/>
              <a:gd name="connsiteX4" fmla="*/ 1780 w 10113"/>
              <a:gd name="connsiteY4" fmla="*/ 138777 h 145531"/>
              <a:gd name="connsiteX5" fmla="*/ 113 w 10113"/>
              <a:gd name="connsiteY5" fmla="*/ 133777 h 145531"/>
              <a:gd name="connsiteX6" fmla="*/ 4738 w 10113"/>
              <a:gd name="connsiteY6" fmla="*/ 51 h 145531"/>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738 w 10113"/>
              <a:gd name="connsiteY0" fmla="*/ 68 h 145548"/>
              <a:gd name="connsiteX1" fmla="*/ 8306 w 10113"/>
              <a:gd name="connsiteY1" fmla="*/ 67 h 145548"/>
              <a:gd name="connsiteX2" fmla="*/ 8446 w 10113"/>
              <a:gd name="connsiteY2" fmla="*/ 133794 h 145548"/>
              <a:gd name="connsiteX3" fmla="*/ 10113 w 10113"/>
              <a:gd name="connsiteY3" fmla="*/ 138794 h 145548"/>
              <a:gd name="connsiteX4" fmla="*/ 1780 w 10113"/>
              <a:gd name="connsiteY4" fmla="*/ 138794 h 145548"/>
              <a:gd name="connsiteX5" fmla="*/ 113 w 10113"/>
              <a:gd name="connsiteY5" fmla="*/ 133794 h 145548"/>
              <a:gd name="connsiteX6" fmla="*/ 4738 w 10113"/>
              <a:gd name="connsiteY6" fmla="*/ 68 h 145548"/>
              <a:gd name="connsiteX0" fmla="*/ 4674 w 10109"/>
              <a:gd name="connsiteY0" fmla="*/ 170 h 145517"/>
              <a:gd name="connsiteX1" fmla="*/ 8302 w 10109"/>
              <a:gd name="connsiteY1" fmla="*/ 36 h 145517"/>
              <a:gd name="connsiteX2" fmla="*/ 8442 w 10109"/>
              <a:gd name="connsiteY2" fmla="*/ 133763 h 145517"/>
              <a:gd name="connsiteX3" fmla="*/ 10109 w 10109"/>
              <a:gd name="connsiteY3" fmla="*/ 138763 h 145517"/>
              <a:gd name="connsiteX4" fmla="*/ 1776 w 10109"/>
              <a:gd name="connsiteY4" fmla="*/ 138763 h 145517"/>
              <a:gd name="connsiteX5" fmla="*/ 109 w 10109"/>
              <a:gd name="connsiteY5" fmla="*/ 133763 h 145517"/>
              <a:gd name="connsiteX6" fmla="*/ 4674 w 10109"/>
              <a:gd name="connsiteY6" fmla="*/ 170 h 145517"/>
              <a:gd name="connsiteX0" fmla="*/ 3080 w 8515"/>
              <a:gd name="connsiteY0" fmla="*/ 170 h 145517"/>
              <a:gd name="connsiteX1" fmla="*/ 6708 w 8515"/>
              <a:gd name="connsiteY1" fmla="*/ 36 h 145517"/>
              <a:gd name="connsiteX2" fmla="*/ 6848 w 8515"/>
              <a:gd name="connsiteY2" fmla="*/ 133763 h 145517"/>
              <a:gd name="connsiteX3" fmla="*/ 8515 w 8515"/>
              <a:gd name="connsiteY3" fmla="*/ 138763 h 145517"/>
              <a:gd name="connsiteX4" fmla="*/ 182 w 8515"/>
              <a:gd name="connsiteY4" fmla="*/ 138763 h 145517"/>
              <a:gd name="connsiteX5" fmla="*/ 3080 w 8515"/>
              <a:gd name="connsiteY5" fmla="*/ 170 h 145517"/>
              <a:gd name="connsiteX0" fmla="*/ 3617 w 10000"/>
              <a:gd name="connsiteY0" fmla="*/ 12 h 9536"/>
              <a:gd name="connsiteX1" fmla="*/ 7878 w 10000"/>
              <a:gd name="connsiteY1" fmla="*/ 2 h 9536"/>
              <a:gd name="connsiteX2" fmla="*/ 8042 w 10000"/>
              <a:gd name="connsiteY2" fmla="*/ 9192 h 9536"/>
              <a:gd name="connsiteX3" fmla="*/ 10000 w 10000"/>
              <a:gd name="connsiteY3" fmla="*/ 9536 h 9536"/>
              <a:gd name="connsiteX4" fmla="*/ 214 w 10000"/>
              <a:gd name="connsiteY4" fmla="*/ 9536 h 9536"/>
              <a:gd name="connsiteX5" fmla="*/ 3617 w 10000"/>
              <a:gd name="connsiteY5" fmla="*/ 12 h 9536"/>
              <a:gd name="connsiteX0" fmla="*/ 3403 w 9786"/>
              <a:gd name="connsiteY0" fmla="*/ 13 h 10000"/>
              <a:gd name="connsiteX1" fmla="*/ 7664 w 9786"/>
              <a:gd name="connsiteY1" fmla="*/ 2 h 10000"/>
              <a:gd name="connsiteX2" fmla="*/ 7828 w 9786"/>
              <a:gd name="connsiteY2" fmla="*/ 9639 h 10000"/>
              <a:gd name="connsiteX3" fmla="*/ 9786 w 9786"/>
              <a:gd name="connsiteY3" fmla="*/ 10000 h 10000"/>
              <a:gd name="connsiteX4" fmla="*/ 0 w 9786"/>
              <a:gd name="connsiteY4" fmla="*/ 10000 h 10000"/>
              <a:gd name="connsiteX5" fmla="*/ 3403 w 9786"/>
              <a:gd name="connsiteY5" fmla="*/ 13 h 10000"/>
              <a:gd name="connsiteX0" fmla="*/ 494 w 7017"/>
              <a:gd name="connsiteY0" fmla="*/ 743 h 10730"/>
              <a:gd name="connsiteX1" fmla="*/ 4849 w 7017"/>
              <a:gd name="connsiteY1" fmla="*/ 732 h 10730"/>
              <a:gd name="connsiteX2" fmla="*/ 5016 w 7017"/>
              <a:gd name="connsiteY2" fmla="*/ 10369 h 10730"/>
              <a:gd name="connsiteX3" fmla="*/ 7017 w 7017"/>
              <a:gd name="connsiteY3" fmla="*/ 10730 h 10730"/>
              <a:gd name="connsiteX4" fmla="*/ 45 w 7017"/>
              <a:gd name="connsiteY4" fmla="*/ 10709 h 10730"/>
              <a:gd name="connsiteX5" fmla="*/ 494 w 7017"/>
              <a:gd name="connsiteY5" fmla="*/ 743 h 10730"/>
              <a:gd name="connsiteX0" fmla="*/ 521 w 9817"/>
              <a:gd name="connsiteY0" fmla="*/ 692 h 10000"/>
              <a:gd name="connsiteX1" fmla="*/ 6727 w 9817"/>
              <a:gd name="connsiteY1" fmla="*/ 682 h 10000"/>
              <a:gd name="connsiteX2" fmla="*/ 6965 w 9817"/>
              <a:gd name="connsiteY2" fmla="*/ 9664 h 10000"/>
              <a:gd name="connsiteX3" fmla="*/ 9817 w 9817"/>
              <a:gd name="connsiteY3" fmla="*/ 10000 h 10000"/>
              <a:gd name="connsiteX4" fmla="*/ 273 w 9817"/>
              <a:gd name="connsiteY4" fmla="*/ 9980 h 10000"/>
              <a:gd name="connsiteX5" fmla="*/ 521 w 9817"/>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31 w 10000"/>
              <a:gd name="connsiteY0" fmla="*/ 692 h 10000"/>
              <a:gd name="connsiteX1" fmla="*/ 6852 w 10000"/>
              <a:gd name="connsiteY1" fmla="*/ 682 h 10000"/>
              <a:gd name="connsiteX2" fmla="*/ 7095 w 10000"/>
              <a:gd name="connsiteY2" fmla="*/ 9664 h 10000"/>
              <a:gd name="connsiteX3" fmla="*/ 10000 w 10000"/>
              <a:gd name="connsiteY3" fmla="*/ 10000 h 10000"/>
              <a:gd name="connsiteX4" fmla="*/ 278 w 10000"/>
              <a:gd name="connsiteY4" fmla="*/ 9980 h 10000"/>
              <a:gd name="connsiteX5" fmla="*/ 531 w 10000"/>
              <a:gd name="connsiteY5" fmla="*/ 692 h 10000"/>
              <a:gd name="connsiteX0" fmla="*/ 570 w 10039"/>
              <a:gd name="connsiteY0" fmla="*/ 695 h 10015"/>
              <a:gd name="connsiteX1" fmla="*/ 6891 w 10039"/>
              <a:gd name="connsiteY1" fmla="*/ 685 h 10015"/>
              <a:gd name="connsiteX2" fmla="*/ 7134 w 10039"/>
              <a:gd name="connsiteY2" fmla="*/ 9667 h 10015"/>
              <a:gd name="connsiteX3" fmla="*/ 10039 w 10039"/>
              <a:gd name="connsiteY3" fmla="*/ 10003 h 10015"/>
              <a:gd name="connsiteX4" fmla="*/ 217 w 10039"/>
              <a:gd name="connsiteY4" fmla="*/ 10015 h 10015"/>
              <a:gd name="connsiteX5" fmla="*/ 570 w 10039"/>
              <a:gd name="connsiteY5" fmla="*/ 695 h 10015"/>
              <a:gd name="connsiteX0" fmla="*/ 615 w 10084"/>
              <a:gd name="connsiteY0" fmla="*/ 695 h 10015"/>
              <a:gd name="connsiteX1" fmla="*/ 6936 w 10084"/>
              <a:gd name="connsiteY1" fmla="*/ 685 h 10015"/>
              <a:gd name="connsiteX2" fmla="*/ 7179 w 10084"/>
              <a:gd name="connsiteY2" fmla="*/ 9667 h 10015"/>
              <a:gd name="connsiteX3" fmla="*/ 10084 w 10084"/>
              <a:gd name="connsiteY3" fmla="*/ 10003 h 10015"/>
              <a:gd name="connsiteX4" fmla="*/ 262 w 10084"/>
              <a:gd name="connsiteY4" fmla="*/ 10015 h 10015"/>
              <a:gd name="connsiteX5" fmla="*/ 615 w 10084"/>
              <a:gd name="connsiteY5" fmla="*/ 695 h 10015"/>
              <a:gd name="connsiteX0" fmla="*/ 356 w 9825"/>
              <a:gd name="connsiteY0" fmla="*/ 695 h 10015"/>
              <a:gd name="connsiteX1" fmla="*/ 6677 w 9825"/>
              <a:gd name="connsiteY1" fmla="*/ 685 h 10015"/>
              <a:gd name="connsiteX2" fmla="*/ 6920 w 9825"/>
              <a:gd name="connsiteY2" fmla="*/ 9667 h 10015"/>
              <a:gd name="connsiteX3" fmla="*/ 9825 w 9825"/>
              <a:gd name="connsiteY3" fmla="*/ 10003 h 10015"/>
              <a:gd name="connsiteX4" fmla="*/ 3 w 9825"/>
              <a:gd name="connsiteY4" fmla="*/ 10015 h 10015"/>
              <a:gd name="connsiteX5" fmla="*/ 356 w 9825"/>
              <a:gd name="connsiteY5" fmla="*/ 695 h 10015"/>
              <a:gd name="connsiteX0" fmla="*/ 362 w 10000"/>
              <a:gd name="connsiteY0" fmla="*/ 10 h 9316"/>
              <a:gd name="connsiteX1" fmla="*/ 6796 w 10000"/>
              <a:gd name="connsiteY1" fmla="*/ 0 h 9316"/>
              <a:gd name="connsiteX2" fmla="*/ 7043 w 10000"/>
              <a:gd name="connsiteY2" fmla="*/ 8969 h 9316"/>
              <a:gd name="connsiteX3" fmla="*/ 10000 w 10000"/>
              <a:gd name="connsiteY3" fmla="*/ 9304 h 9316"/>
              <a:gd name="connsiteX4" fmla="*/ 3 w 10000"/>
              <a:gd name="connsiteY4" fmla="*/ 9316 h 9316"/>
              <a:gd name="connsiteX5" fmla="*/ 362 w 10000"/>
              <a:gd name="connsiteY5" fmla="*/ 10 h 9316"/>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6796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474"/>
              <a:gd name="connsiteX1" fmla="*/ 7101 w 10000"/>
              <a:gd name="connsiteY1" fmla="*/ 0 h 10474"/>
              <a:gd name="connsiteX2" fmla="*/ 7043 w 10000"/>
              <a:gd name="connsiteY2" fmla="*/ 9628 h 10474"/>
              <a:gd name="connsiteX3" fmla="*/ 10000 w 10000"/>
              <a:gd name="connsiteY3" fmla="*/ 9987 h 10474"/>
              <a:gd name="connsiteX4" fmla="*/ 3 w 10000"/>
              <a:gd name="connsiteY4" fmla="*/ 10000 h 10474"/>
              <a:gd name="connsiteX5" fmla="*/ 362 w 10000"/>
              <a:gd name="connsiteY5" fmla="*/ 11 h 10474"/>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2 w 10000"/>
              <a:gd name="connsiteY0" fmla="*/ 11 h 10000"/>
              <a:gd name="connsiteX1" fmla="*/ 7101 w 10000"/>
              <a:gd name="connsiteY1" fmla="*/ 0 h 10000"/>
              <a:gd name="connsiteX2" fmla="*/ 7043 w 10000"/>
              <a:gd name="connsiteY2" fmla="*/ 9628 h 10000"/>
              <a:gd name="connsiteX3" fmla="*/ 10000 w 10000"/>
              <a:gd name="connsiteY3" fmla="*/ 9987 h 10000"/>
              <a:gd name="connsiteX4" fmla="*/ 3 w 10000"/>
              <a:gd name="connsiteY4" fmla="*/ 10000 h 10000"/>
              <a:gd name="connsiteX5" fmla="*/ 362 w 10000"/>
              <a:gd name="connsiteY5" fmla="*/ 11 h 10000"/>
              <a:gd name="connsiteX0" fmla="*/ 360 w 9998"/>
              <a:gd name="connsiteY0" fmla="*/ 11 h 10000"/>
              <a:gd name="connsiteX1" fmla="*/ 7099 w 9998"/>
              <a:gd name="connsiteY1" fmla="*/ 0 h 10000"/>
              <a:gd name="connsiteX2" fmla="*/ 7041 w 9998"/>
              <a:gd name="connsiteY2" fmla="*/ 9628 h 10000"/>
              <a:gd name="connsiteX3" fmla="*/ 9998 w 9998"/>
              <a:gd name="connsiteY3" fmla="*/ 9987 h 10000"/>
              <a:gd name="connsiteX4" fmla="*/ 1 w 9998"/>
              <a:gd name="connsiteY4" fmla="*/ 10000 h 10000"/>
              <a:gd name="connsiteX5" fmla="*/ 360 w 9998"/>
              <a:gd name="connsiteY5" fmla="*/ 11 h 10000"/>
              <a:gd name="connsiteX0" fmla="*/ 0 w 9640"/>
              <a:gd name="connsiteY0" fmla="*/ 11 h 10000"/>
              <a:gd name="connsiteX1" fmla="*/ 6740 w 9640"/>
              <a:gd name="connsiteY1" fmla="*/ 0 h 10000"/>
              <a:gd name="connsiteX2" fmla="*/ 6682 w 9640"/>
              <a:gd name="connsiteY2" fmla="*/ 9628 h 10000"/>
              <a:gd name="connsiteX3" fmla="*/ 9640 w 9640"/>
              <a:gd name="connsiteY3" fmla="*/ 9987 h 10000"/>
              <a:gd name="connsiteX4" fmla="*/ 302 w 9640"/>
              <a:gd name="connsiteY4" fmla="*/ 10000 h 10000"/>
              <a:gd name="connsiteX5" fmla="*/ 0 w 964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00"/>
              <a:gd name="connsiteY0" fmla="*/ 11 h 10000"/>
              <a:gd name="connsiteX1" fmla="*/ 6992 w 10000"/>
              <a:gd name="connsiteY1" fmla="*/ 0 h 10000"/>
              <a:gd name="connsiteX2" fmla="*/ 6932 w 10000"/>
              <a:gd name="connsiteY2" fmla="*/ 9628 h 10000"/>
              <a:gd name="connsiteX3" fmla="*/ 10000 w 10000"/>
              <a:gd name="connsiteY3" fmla="*/ 9987 h 10000"/>
              <a:gd name="connsiteX4" fmla="*/ 6 w 10000"/>
              <a:gd name="connsiteY4" fmla="*/ 10000 h 10000"/>
              <a:gd name="connsiteX5" fmla="*/ 0 w 10000"/>
              <a:gd name="connsiteY5" fmla="*/ 11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10000"/>
              <a:gd name="connsiteX1" fmla="*/ 7048 w 10056"/>
              <a:gd name="connsiteY1" fmla="*/ 0 h 10000"/>
              <a:gd name="connsiteX2" fmla="*/ 6988 w 10056"/>
              <a:gd name="connsiteY2" fmla="*/ 9628 h 10000"/>
              <a:gd name="connsiteX3" fmla="*/ 10056 w 10056"/>
              <a:gd name="connsiteY3" fmla="*/ 9987 h 10000"/>
              <a:gd name="connsiteX4" fmla="*/ 62 w 10056"/>
              <a:gd name="connsiteY4" fmla="*/ 10000 h 10000"/>
              <a:gd name="connsiteX5" fmla="*/ 0 w 10056"/>
              <a:gd name="connsiteY5" fmla="*/ 4 h 10000"/>
              <a:gd name="connsiteX0" fmla="*/ 0 w 10056"/>
              <a:gd name="connsiteY0" fmla="*/ 4 h 9991"/>
              <a:gd name="connsiteX1" fmla="*/ 7048 w 10056"/>
              <a:gd name="connsiteY1" fmla="*/ 0 h 9991"/>
              <a:gd name="connsiteX2" fmla="*/ 6988 w 10056"/>
              <a:gd name="connsiteY2" fmla="*/ 9628 h 9991"/>
              <a:gd name="connsiteX3" fmla="*/ 10056 w 10056"/>
              <a:gd name="connsiteY3" fmla="*/ 9987 h 9991"/>
              <a:gd name="connsiteX4" fmla="*/ 129 w 10056"/>
              <a:gd name="connsiteY4" fmla="*/ 9991 h 9991"/>
              <a:gd name="connsiteX5" fmla="*/ 0 w 10056"/>
              <a:gd name="connsiteY5" fmla="*/ 4 h 9991"/>
              <a:gd name="connsiteX0" fmla="*/ 0 w 10000"/>
              <a:gd name="connsiteY0" fmla="*/ 0 h 9996"/>
              <a:gd name="connsiteX1" fmla="*/ 6799 w 10000"/>
              <a:gd name="connsiteY1" fmla="*/ 3842 h 9996"/>
              <a:gd name="connsiteX2" fmla="*/ 6949 w 10000"/>
              <a:gd name="connsiteY2" fmla="*/ 9633 h 9996"/>
              <a:gd name="connsiteX3" fmla="*/ 10000 w 10000"/>
              <a:gd name="connsiteY3" fmla="*/ 9992 h 9996"/>
              <a:gd name="connsiteX4" fmla="*/ 128 w 10000"/>
              <a:gd name="connsiteY4" fmla="*/ 9996 h 9996"/>
              <a:gd name="connsiteX5" fmla="*/ 0 w 10000"/>
              <a:gd name="connsiteY5" fmla="*/ 0 h 9996"/>
              <a:gd name="connsiteX0" fmla="*/ 0 w 9895"/>
              <a:gd name="connsiteY0" fmla="*/ 11 h 6156"/>
              <a:gd name="connsiteX1" fmla="*/ 6694 w 9895"/>
              <a:gd name="connsiteY1" fmla="*/ 0 h 6156"/>
              <a:gd name="connsiteX2" fmla="*/ 6844 w 9895"/>
              <a:gd name="connsiteY2" fmla="*/ 5793 h 6156"/>
              <a:gd name="connsiteX3" fmla="*/ 9895 w 9895"/>
              <a:gd name="connsiteY3" fmla="*/ 6152 h 6156"/>
              <a:gd name="connsiteX4" fmla="*/ 23 w 9895"/>
              <a:gd name="connsiteY4" fmla="*/ 6156 h 6156"/>
              <a:gd name="connsiteX5" fmla="*/ 0 w 9895"/>
              <a:gd name="connsiteY5" fmla="*/ 11 h 6156"/>
              <a:gd name="connsiteX0" fmla="*/ 0 w 11007"/>
              <a:gd name="connsiteY0" fmla="*/ 7 h 10000"/>
              <a:gd name="connsiteX1" fmla="*/ 7772 w 11007"/>
              <a:gd name="connsiteY1" fmla="*/ 0 h 10000"/>
              <a:gd name="connsiteX2" fmla="*/ 7924 w 11007"/>
              <a:gd name="connsiteY2" fmla="*/ 9410 h 10000"/>
              <a:gd name="connsiteX3" fmla="*/ 11007 w 11007"/>
              <a:gd name="connsiteY3" fmla="*/ 9994 h 10000"/>
              <a:gd name="connsiteX4" fmla="*/ 1030 w 11007"/>
              <a:gd name="connsiteY4" fmla="*/ 10000 h 10000"/>
              <a:gd name="connsiteX5" fmla="*/ 0 w 11007"/>
              <a:gd name="connsiteY5" fmla="*/ 7 h 10000"/>
              <a:gd name="connsiteX0" fmla="*/ 0 w 11007"/>
              <a:gd name="connsiteY0" fmla="*/ 7 h 10000"/>
              <a:gd name="connsiteX1" fmla="*/ 7772 w 11007"/>
              <a:gd name="connsiteY1" fmla="*/ 0 h 10000"/>
              <a:gd name="connsiteX2" fmla="*/ 7924 w 11007"/>
              <a:gd name="connsiteY2" fmla="*/ 9410 h 10000"/>
              <a:gd name="connsiteX3" fmla="*/ 11007 w 11007"/>
              <a:gd name="connsiteY3" fmla="*/ 9994 h 10000"/>
              <a:gd name="connsiteX4" fmla="*/ 23 w 11007"/>
              <a:gd name="connsiteY4" fmla="*/ 10000 h 10000"/>
              <a:gd name="connsiteX5" fmla="*/ 0 w 11007"/>
              <a:gd name="connsiteY5" fmla="*/ 7 h 10000"/>
              <a:gd name="connsiteX0" fmla="*/ 76 w 10988"/>
              <a:gd name="connsiteY0" fmla="*/ 45 h 10000"/>
              <a:gd name="connsiteX1" fmla="*/ 7753 w 10988"/>
              <a:gd name="connsiteY1" fmla="*/ 0 h 10000"/>
              <a:gd name="connsiteX2" fmla="*/ 7905 w 10988"/>
              <a:gd name="connsiteY2" fmla="*/ 9410 h 10000"/>
              <a:gd name="connsiteX3" fmla="*/ 10988 w 10988"/>
              <a:gd name="connsiteY3" fmla="*/ 9994 h 10000"/>
              <a:gd name="connsiteX4" fmla="*/ 4 w 10988"/>
              <a:gd name="connsiteY4" fmla="*/ 10000 h 10000"/>
              <a:gd name="connsiteX5" fmla="*/ 76 w 10988"/>
              <a:gd name="connsiteY5" fmla="*/ 45 h 10000"/>
              <a:gd name="connsiteX0" fmla="*/ 16 w 10988"/>
              <a:gd name="connsiteY0" fmla="*/ 20 h 10000"/>
              <a:gd name="connsiteX1" fmla="*/ 7753 w 10988"/>
              <a:gd name="connsiteY1" fmla="*/ 0 h 10000"/>
              <a:gd name="connsiteX2" fmla="*/ 7905 w 10988"/>
              <a:gd name="connsiteY2" fmla="*/ 9410 h 10000"/>
              <a:gd name="connsiteX3" fmla="*/ 10988 w 10988"/>
              <a:gd name="connsiteY3" fmla="*/ 9994 h 10000"/>
              <a:gd name="connsiteX4" fmla="*/ 4 w 10988"/>
              <a:gd name="connsiteY4" fmla="*/ 10000 h 10000"/>
              <a:gd name="connsiteX5" fmla="*/ 16 w 10988"/>
              <a:gd name="connsiteY5" fmla="*/ 20 h 10000"/>
              <a:gd name="connsiteX0" fmla="*/ 16 w 10988"/>
              <a:gd name="connsiteY0" fmla="*/ 0 h 9980"/>
              <a:gd name="connsiteX1" fmla="*/ 7753 w 10988"/>
              <a:gd name="connsiteY1" fmla="*/ 0 h 9980"/>
              <a:gd name="connsiteX2" fmla="*/ 7905 w 10988"/>
              <a:gd name="connsiteY2" fmla="*/ 9390 h 9980"/>
              <a:gd name="connsiteX3" fmla="*/ 10988 w 10988"/>
              <a:gd name="connsiteY3" fmla="*/ 9974 h 9980"/>
              <a:gd name="connsiteX4" fmla="*/ 4 w 10988"/>
              <a:gd name="connsiteY4" fmla="*/ 9980 h 9980"/>
              <a:gd name="connsiteX5" fmla="*/ 16 w 10988"/>
              <a:gd name="connsiteY5" fmla="*/ 0 h 9980"/>
              <a:gd name="connsiteX0" fmla="*/ 0 w 9985"/>
              <a:gd name="connsiteY0" fmla="*/ 0 h 9994"/>
              <a:gd name="connsiteX1" fmla="*/ 7041 w 9985"/>
              <a:gd name="connsiteY1" fmla="*/ 0 h 9994"/>
              <a:gd name="connsiteX2" fmla="*/ 7179 w 9985"/>
              <a:gd name="connsiteY2" fmla="*/ 9409 h 9994"/>
              <a:gd name="connsiteX3" fmla="*/ 9985 w 9985"/>
              <a:gd name="connsiteY3" fmla="*/ 9994 h 9994"/>
              <a:gd name="connsiteX4" fmla="*/ 11 w 9985"/>
              <a:gd name="connsiteY4" fmla="*/ 9987 h 9994"/>
              <a:gd name="connsiteX5" fmla="*/ 0 w 9985"/>
              <a:gd name="connsiteY5" fmla="*/ 0 h 9994"/>
              <a:gd name="connsiteX0" fmla="*/ 0 w 10000"/>
              <a:gd name="connsiteY0" fmla="*/ 0 h 10000"/>
              <a:gd name="connsiteX1" fmla="*/ 7052 w 10000"/>
              <a:gd name="connsiteY1" fmla="*/ 0 h 10000"/>
              <a:gd name="connsiteX2" fmla="*/ 7190 w 10000"/>
              <a:gd name="connsiteY2" fmla="*/ 9415 h 10000"/>
              <a:gd name="connsiteX3" fmla="*/ 10000 w 10000"/>
              <a:gd name="connsiteY3" fmla="*/ 10000 h 10000"/>
              <a:gd name="connsiteX4" fmla="*/ 11 w 10000"/>
              <a:gd name="connsiteY4" fmla="*/ 9996 h 10000"/>
              <a:gd name="connsiteX5" fmla="*/ 0 w 10000"/>
              <a:gd name="connsiteY5" fmla="*/ 0 h 10000"/>
              <a:gd name="connsiteX0" fmla="*/ 35 w 10035"/>
              <a:gd name="connsiteY0" fmla="*/ 0 h 10009"/>
              <a:gd name="connsiteX1" fmla="*/ 7087 w 10035"/>
              <a:gd name="connsiteY1" fmla="*/ 0 h 10009"/>
              <a:gd name="connsiteX2" fmla="*/ 7225 w 10035"/>
              <a:gd name="connsiteY2" fmla="*/ 9415 h 10009"/>
              <a:gd name="connsiteX3" fmla="*/ 10035 w 10035"/>
              <a:gd name="connsiteY3" fmla="*/ 10000 h 10009"/>
              <a:gd name="connsiteX4" fmla="*/ 3 w 10035"/>
              <a:gd name="connsiteY4" fmla="*/ 10009 h 10009"/>
              <a:gd name="connsiteX5" fmla="*/ 35 w 10035"/>
              <a:gd name="connsiteY5" fmla="*/ 0 h 10009"/>
              <a:gd name="connsiteX0" fmla="*/ 0 w 10000"/>
              <a:gd name="connsiteY0" fmla="*/ 0 h 10000"/>
              <a:gd name="connsiteX1" fmla="*/ 7052 w 10000"/>
              <a:gd name="connsiteY1" fmla="*/ 0 h 10000"/>
              <a:gd name="connsiteX2" fmla="*/ 7190 w 10000"/>
              <a:gd name="connsiteY2" fmla="*/ 9415 h 10000"/>
              <a:gd name="connsiteX3" fmla="*/ 10000 w 10000"/>
              <a:gd name="connsiteY3" fmla="*/ 10000 h 10000"/>
              <a:gd name="connsiteX4" fmla="*/ 66 w 10000"/>
              <a:gd name="connsiteY4" fmla="*/ 9989 h 10000"/>
              <a:gd name="connsiteX5" fmla="*/ 0 w 10000"/>
              <a:gd name="connsiteY5" fmla="*/ 0 h 10000"/>
              <a:gd name="connsiteX0" fmla="*/ 0 w 10000"/>
              <a:gd name="connsiteY0" fmla="*/ 0 h 10002"/>
              <a:gd name="connsiteX1" fmla="*/ 7052 w 10000"/>
              <a:gd name="connsiteY1" fmla="*/ 0 h 10002"/>
              <a:gd name="connsiteX2" fmla="*/ 7190 w 10000"/>
              <a:gd name="connsiteY2" fmla="*/ 9415 h 10002"/>
              <a:gd name="connsiteX3" fmla="*/ 10000 w 10000"/>
              <a:gd name="connsiteY3" fmla="*/ 10000 h 10002"/>
              <a:gd name="connsiteX4" fmla="*/ 23 w 10000"/>
              <a:gd name="connsiteY4" fmla="*/ 10002 h 10002"/>
              <a:gd name="connsiteX5" fmla="*/ 0 w 10000"/>
              <a:gd name="connsiteY5" fmla="*/ 0 h 10002"/>
              <a:gd name="connsiteX0" fmla="*/ 164 w 10164"/>
              <a:gd name="connsiteY0" fmla="*/ 0 h 10000"/>
              <a:gd name="connsiteX1" fmla="*/ 7216 w 10164"/>
              <a:gd name="connsiteY1" fmla="*/ 0 h 10000"/>
              <a:gd name="connsiteX2" fmla="*/ 7354 w 10164"/>
              <a:gd name="connsiteY2" fmla="*/ 9415 h 10000"/>
              <a:gd name="connsiteX3" fmla="*/ 10164 w 10164"/>
              <a:gd name="connsiteY3" fmla="*/ 10000 h 10000"/>
              <a:gd name="connsiteX4" fmla="*/ 2 w 10164"/>
              <a:gd name="connsiteY4" fmla="*/ 9999 h 10000"/>
              <a:gd name="connsiteX5" fmla="*/ 164 w 10164"/>
              <a:gd name="connsiteY5" fmla="*/ 0 h 10000"/>
              <a:gd name="connsiteX0" fmla="*/ 163 w 10163"/>
              <a:gd name="connsiteY0" fmla="*/ 0 h 10000"/>
              <a:gd name="connsiteX1" fmla="*/ 7215 w 10163"/>
              <a:gd name="connsiteY1" fmla="*/ 0 h 10000"/>
              <a:gd name="connsiteX2" fmla="*/ 7353 w 10163"/>
              <a:gd name="connsiteY2" fmla="*/ 9415 h 10000"/>
              <a:gd name="connsiteX3" fmla="*/ 10163 w 10163"/>
              <a:gd name="connsiteY3" fmla="*/ 10000 h 10000"/>
              <a:gd name="connsiteX4" fmla="*/ 1 w 10163"/>
              <a:gd name="connsiteY4" fmla="*/ 9999 h 10000"/>
              <a:gd name="connsiteX5" fmla="*/ 163 w 10163"/>
              <a:gd name="connsiteY5" fmla="*/ 0 h 10000"/>
              <a:gd name="connsiteX0" fmla="*/ 0 w 10174"/>
              <a:gd name="connsiteY0" fmla="*/ 0 h 10000"/>
              <a:gd name="connsiteX1" fmla="*/ 7226 w 10174"/>
              <a:gd name="connsiteY1" fmla="*/ 0 h 10000"/>
              <a:gd name="connsiteX2" fmla="*/ 7364 w 10174"/>
              <a:gd name="connsiteY2" fmla="*/ 9415 h 10000"/>
              <a:gd name="connsiteX3" fmla="*/ 10174 w 10174"/>
              <a:gd name="connsiteY3" fmla="*/ 10000 h 10000"/>
              <a:gd name="connsiteX4" fmla="*/ 12 w 10174"/>
              <a:gd name="connsiteY4" fmla="*/ 9999 h 10000"/>
              <a:gd name="connsiteX5" fmla="*/ 0 w 10174"/>
              <a:gd name="connsiteY5" fmla="*/ 0 h 10000"/>
              <a:gd name="connsiteX0" fmla="*/ 0 w 10174"/>
              <a:gd name="connsiteY0" fmla="*/ 0 h 10000"/>
              <a:gd name="connsiteX1" fmla="*/ 7226 w 10174"/>
              <a:gd name="connsiteY1" fmla="*/ 0 h 10000"/>
              <a:gd name="connsiteX2" fmla="*/ 7364 w 10174"/>
              <a:gd name="connsiteY2" fmla="*/ 9415 h 10000"/>
              <a:gd name="connsiteX3" fmla="*/ 10174 w 10174"/>
              <a:gd name="connsiteY3" fmla="*/ 10000 h 10000"/>
              <a:gd name="connsiteX4" fmla="*/ 12 w 10174"/>
              <a:gd name="connsiteY4" fmla="*/ 9999 h 10000"/>
              <a:gd name="connsiteX5" fmla="*/ 0 w 10174"/>
              <a:gd name="connsiteY5" fmla="*/ 0 h 10000"/>
              <a:gd name="connsiteX0" fmla="*/ 0 w 10174"/>
              <a:gd name="connsiteY0" fmla="*/ 3 h 10003"/>
              <a:gd name="connsiteX1" fmla="*/ 7335 w 10174"/>
              <a:gd name="connsiteY1" fmla="*/ 0 h 10003"/>
              <a:gd name="connsiteX2" fmla="*/ 7364 w 10174"/>
              <a:gd name="connsiteY2" fmla="*/ 9418 h 10003"/>
              <a:gd name="connsiteX3" fmla="*/ 10174 w 10174"/>
              <a:gd name="connsiteY3" fmla="*/ 10003 h 10003"/>
              <a:gd name="connsiteX4" fmla="*/ 12 w 10174"/>
              <a:gd name="connsiteY4" fmla="*/ 10002 h 10003"/>
              <a:gd name="connsiteX5" fmla="*/ 0 w 10174"/>
              <a:gd name="connsiteY5" fmla="*/ 3 h 10003"/>
              <a:gd name="connsiteX0" fmla="*/ 0 w 10174"/>
              <a:gd name="connsiteY0" fmla="*/ 6 h 10006"/>
              <a:gd name="connsiteX1" fmla="*/ 7346 w 10174"/>
              <a:gd name="connsiteY1" fmla="*/ 0 h 10006"/>
              <a:gd name="connsiteX2" fmla="*/ 7364 w 10174"/>
              <a:gd name="connsiteY2" fmla="*/ 9421 h 10006"/>
              <a:gd name="connsiteX3" fmla="*/ 10174 w 10174"/>
              <a:gd name="connsiteY3" fmla="*/ 10006 h 10006"/>
              <a:gd name="connsiteX4" fmla="*/ 12 w 10174"/>
              <a:gd name="connsiteY4" fmla="*/ 10005 h 10006"/>
              <a:gd name="connsiteX5" fmla="*/ 0 w 10174"/>
              <a:gd name="connsiteY5" fmla="*/ 6 h 10006"/>
              <a:gd name="connsiteX0" fmla="*/ 0 w 10174"/>
              <a:gd name="connsiteY0" fmla="*/ 6 h 10006"/>
              <a:gd name="connsiteX1" fmla="*/ 7346 w 10174"/>
              <a:gd name="connsiteY1" fmla="*/ 0 h 10006"/>
              <a:gd name="connsiteX2" fmla="*/ 7364 w 10174"/>
              <a:gd name="connsiteY2" fmla="*/ 9421 h 10006"/>
              <a:gd name="connsiteX3" fmla="*/ 10174 w 10174"/>
              <a:gd name="connsiteY3" fmla="*/ 10006 h 10006"/>
              <a:gd name="connsiteX4" fmla="*/ 12 w 10174"/>
              <a:gd name="connsiteY4" fmla="*/ 10005 h 10006"/>
              <a:gd name="connsiteX5" fmla="*/ 0 w 10174"/>
              <a:gd name="connsiteY5" fmla="*/ 6 h 10006"/>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0 w 10174"/>
              <a:gd name="connsiteY0" fmla="*/ 9 h 10009"/>
              <a:gd name="connsiteX1" fmla="*/ 7346 w 10174"/>
              <a:gd name="connsiteY1" fmla="*/ 0 h 10009"/>
              <a:gd name="connsiteX2" fmla="*/ 7364 w 10174"/>
              <a:gd name="connsiteY2" fmla="*/ 9424 h 10009"/>
              <a:gd name="connsiteX3" fmla="*/ 10174 w 10174"/>
              <a:gd name="connsiteY3" fmla="*/ 10009 h 10009"/>
              <a:gd name="connsiteX4" fmla="*/ 12 w 10174"/>
              <a:gd name="connsiteY4" fmla="*/ 10008 h 10009"/>
              <a:gd name="connsiteX5" fmla="*/ 0 w 10174"/>
              <a:gd name="connsiteY5" fmla="*/ 9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550 w 10163"/>
              <a:gd name="connsiteY0" fmla="*/ 3 h 10009"/>
              <a:gd name="connsiteX1" fmla="*/ 7335 w 10163"/>
              <a:gd name="connsiteY1" fmla="*/ 0 h 10009"/>
              <a:gd name="connsiteX2" fmla="*/ 7353 w 10163"/>
              <a:gd name="connsiteY2" fmla="*/ 9424 h 10009"/>
              <a:gd name="connsiteX3" fmla="*/ 10163 w 10163"/>
              <a:gd name="connsiteY3" fmla="*/ 10009 h 10009"/>
              <a:gd name="connsiteX4" fmla="*/ 1 w 10163"/>
              <a:gd name="connsiteY4" fmla="*/ 10008 h 10009"/>
              <a:gd name="connsiteX5" fmla="*/ 550 w 10163"/>
              <a:gd name="connsiteY5" fmla="*/ 3 h 10009"/>
              <a:gd name="connsiteX0" fmla="*/ 0 w 9613"/>
              <a:gd name="connsiteY0" fmla="*/ 3 h 10009"/>
              <a:gd name="connsiteX1" fmla="*/ 6785 w 9613"/>
              <a:gd name="connsiteY1" fmla="*/ 0 h 10009"/>
              <a:gd name="connsiteX2" fmla="*/ 6803 w 9613"/>
              <a:gd name="connsiteY2" fmla="*/ 9424 h 10009"/>
              <a:gd name="connsiteX3" fmla="*/ 9613 w 9613"/>
              <a:gd name="connsiteY3" fmla="*/ 10009 h 10009"/>
              <a:gd name="connsiteX4" fmla="*/ 95 w 9613"/>
              <a:gd name="connsiteY4" fmla="*/ 9998 h 10009"/>
              <a:gd name="connsiteX5" fmla="*/ 0 w 9613"/>
              <a:gd name="connsiteY5" fmla="*/ 3 h 10009"/>
              <a:gd name="connsiteX0" fmla="*/ 0 w 10000"/>
              <a:gd name="connsiteY0" fmla="*/ 3 h 10000"/>
              <a:gd name="connsiteX1" fmla="*/ 7058 w 10000"/>
              <a:gd name="connsiteY1" fmla="*/ 0 h 10000"/>
              <a:gd name="connsiteX2" fmla="*/ 7077 w 10000"/>
              <a:gd name="connsiteY2" fmla="*/ 9416 h 10000"/>
              <a:gd name="connsiteX3" fmla="*/ 10000 w 10000"/>
              <a:gd name="connsiteY3" fmla="*/ 10000 h 10000"/>
              <a:gd name="connsiteX4" fmla="*/ 14 w 10000"/>
              <a:gd name="connsiteY4" fmla="*/ 9999 h 10000"/>
              <a:gd name="connsiteX5" fmla="*/ 0 w 10000"/>
              <a:gd name="connsiteY5" fmla="*/ 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3"/>
                </a:moveTo>
                <a:lnTo>
                  <a:pt x="7058" y="0"/>
                </a:lnTo>
                <a:cubicBezTo>
                  <a:pt x="7049" y="2528"/>
                  <a:pt x="7068" y="8825"/>
                  <a:pt x="7077" y="9416"/>
                </a:cubicBezTo>
                <a:cubicBezTo>
                  <a:pt x="7052" y="9743"/>
                  <a:pt x="8384" y="10000"/>
                  <a:pt x="10000" y="10000"/>
                </a:cubicBezTo>
                <a:lnTo>
                  <a:pt x="14" y="9999"/>
                </a:lnTo>
                <a:cubicBezTo>
                  <a:pt x="7" y="7401"/>
                  <a:pt x="15" y="1749"/>
                  <a:pt x="0" y="3"/>
                </a:cubicBezTo>
                <a:close/>
              </a:path>
            </a:pathLst>
          </a:custGeom>
          <a:solidFill>
            <a:srgbClr val="AA00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4FAD86AC-4C87-1793-B8DA-143F6DFB4B75}"/>
              </a:ext>
            </a:extLst>
          </p:cNvPr>
          <p:cNvSpPr txBox="1"/>
          <p:nvPr userDrawn="1"/>
        </p:nvSpPr>
        <p:spPr>
          <a:xfrm>
            <a:off x="10246589" y="585744"/>
            <a:ext cx="2225725" cy="419695"/>
          </a:xfrm>
          <a:prstGeom prst="rect">
            <a:avLst/>
          </a:prstGeom>
          <a:noFill/>
        </p:spPr>
        <p:txBody>
          <a:bodyPr wrap="square" rtlCol="0">
            <a:spAutoFit/>
          </a:bodyPr>
          <a:lstStyle/>
          <a:p>
            <a:r>
              <a:rPr lang="en-GB" sz="2400" dirty="0">
                <a:solidFill>
                  <a:schemeClr val="bg1"/>
                </a:solidFill>
              </a:rPr>
              <a:t>Meta-analysis</a:t>
            </a:r>
          </a:p>
        </p:txBody>
      </p:sp>
    </p:spTree>
    <p:extLst>
      <p:ext uri="{BB962C8B-B14F-4D97-AF65-F5344CB8AC3E}">
        <p14:creationId xmlns:p14="http://schemas.microsoft.com/office/powerpoint/2010/main" val="20597822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14BA06-560F-4272-BD1D-D3D251BC0A82}" type="datetimeFigureOut">
              <a:rPr lang="en-GB" smtClean="0"/>
              <a:t>14/03/2026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2DF36B-8F18-4F81-92A8-26E2BC629512}" type="slidenum">
              <a:rPr lang="en-GB" smtClean="0"/>
              <a:t>‹#›</a:t>
            </a:fld>
            <a:endParaRPr lang="en-GB"/>
          </a:p>
        </p:txBody>
      </p:sp>
    </p:spTree>
    <p:extLst>
      <p:ext uri="{BB962C8B-B14F-4D97-AF65-F5344CB8AC3E}">
        <p14:creationId xmlns:p14="http://schemas.microsoft.com/office/powerpoint/2010/main" val="690031264"/>
      </p:ext>
    </p:extLst>
  </p:cSld>
  <p:clrMap bg1="lt1" tx1="dk1" bg2="lt2" tx2="dk2" accent1="accent1" accent2="accent2" accent3="accent3" accent4="accent4" accent5="accent5" accent6="accent6" hlink="hlink" folHlink="folHlink"/>
  <p:sldLayoutIdLst>
    <p:sldLayoutId id="2147483649" r:id="rId1"/>
    <p:sldLayoutId id="2147483653" r:id="rId2"/>
    <p:sldLayoutId id="2147483652" r:id="rId3"/>
    <p:sldLayoutId id="214748365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txBox="1">
            <a:spLocks/>
          </p:cNvSpPr>
          <p:nvPr/>
        </p:nvSpPr>
        <p:spPr>
          <a:xfrm>
            <a:off x="0" y="0"/>
            <a:ext cx="10233660" cy="1085673"/>
          </a:xfrm>
          <a:prstGeom prst="rect">
            <a:avLst/>
          </a:prstGeom>
          <a:no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216000" algn="l"/>
            <a:r>
              <a:rPr lang="en-GB" sz="2800" b="1" dirty="0">
                <a:solidFill>
                  <a:schemeClr val="bg1"/>
                </a:solidFill>
              </a:rPr>
              <a:t>Clinical </a:t>
            </a:r>
            <a:r>
              <a:rPr lang="en-GB" sz="2800" b="1" dirty="0" smtClean="0">
                <a:solidFill>
                  <a:schemeClr val="bg1"/>
                </a:solidFill>
              </a:rPr>
              <a:t>feature analysis </a:t>
            </a:r>
            <a:r>
              <a:rPr lang="en-GB" sz="2800" b="1" dirty="0">
                <a:solidFill>
                  <a:schemeClr val="bg1"/>
                </a:solidFill>
              </a:rPr>
              <a:t>of pediatric Castleman disease with </a:t>
            </a:r>
            <a:r>
              <a:rPr lang="en-US" altLang="zh-CN" sz="2800" b="1" dirty="0">
                <a:solidFill>
                  <a:schemeClr val="bg1"/>
                </a:solidFill>
              </a:rPr>
              <a:t>renal</a:t>
            </a:r>
            <a:r>
              <a:rPr lang="en-GB" sz="2800" b="1" dirty="0">
                <a:solidFill>
                  <a:schemeClr val="bg1"/>
                </a:solidFill>
              </a:rPr>
              <a:t> involvement</a:t>
            </a:r>
          </a:p>
        </p:txBody>
      </p:sp>
      <p:sp>
        <p:nvSpPr>
          <p:cNvPr id="25" name="TextBox 24"/>
          <p:cNvSpPr txBox="1"/>
          <p:nvPr/>
        </p:nvSpPr>
        <p:spPr>
          <a:xfrm>
            <a:off x="180182" y="1189759"/>
            <a:ext cx="10867379" cy="369332"/>
          </a:xfrm>
          <a:prstGeom prst="rect">
            <a:avLst/>
          </a:prstGeom>
          <a:noFill/>
        </p:spPr>
        <p:txBody>
          <a:bodyPr wrap="square" rtlCol="0">
            <a:spAutoFit/>
          </a:bodyPr>
          <a:lstStyle/>
          <a:p>
            <a:r>
              <a:rPr lang="en-GB" b="1" dirty="0">
                <a:solidFill>
                  <a:schemeClr val="bg1"/>
                </a:solidFill>
              </a:rPr>
              <a:t>AIM</a:t>
            </a:r>
            <a:r>
              <a:rPr lang="en-GB" dirty="0">
                <a:solidFill>
                  <a:schemeClr val="bg1"/>
                </a:solidFill>
              </a:rPr>
              <a:t>: </a:t>
            </a:r>
            <a:r>
              <a:rPr lang="en-US" dirty="0">
                <a:solidFill>
                  <a:schemeClr val="bg1"/>
                </a:solidFill>
              </a:rPr>
              <a:t>To investigate the clinical features of pediatric CD with </a:t>
            </a:r>
            <a:r>
              <a:rPr lang="en-US" altLang="zh-CN" dirty="0">
                <a:solidFill>
                  <a:schemeClr val="bg1"/>
                </a:solidFill>
              </a:rPr>
              <a:t>renal</a:t>
            </a:r>
            <a:r>
              <a:rPr lang="en-US" dirty="0">
                <a:solidFill>
                  <a:schemeClr val="bg1"/>
                </a:solidFill>
              </a:rPr>
              <a:t> involvement.</a:t>
            </a:r>
            <a:endParaRPr lang="en-GB" dirty="0">
              <a:solidFill>
                <a:schemeClr val="bg1"/>
              </a:solidFill>
            </a:endParaRPr>
          </a:p>
        </p:txBody>
      </p:sp>
      <p:sp>
        <p:nvSpPr>
          <p:cNvPr id="26" name="TextBox 25"/>
          <p:cNvSpPr txBox="1"/>
          <p:nvPr/>
        </p:nvSpPr>
        <p:spPr>
          <a:xfrm>
            <a:off x="173448" y="1758951"/>
            <a:ext cx="11505934" cy="646331"/>
          </a:xfrm>
          <a:prstGeom prst="rect">
            <a:avLst/>
          </a:prstGeom>
          <a:noFill/>
        </p:spPr>
        <p:txBody>
          <a:bodyPr wrap="square" rtlCol="0">
            <a:spAutoFit/>
          </a:bodyPr>
          <a:lstStyle/>
          <a:p>
            <a:r>
              <a:rPr lang="en-GB" b="1" dirty="0">
                <a:solidFill>
                  <a:srgbClr val="0065AA"/>
                </a:solidFill>
              </a:rPr>
              <a:t>DESIGN &amp; OUTCOMES</a:t>
            </a:r>
            <a:r>
              <a:rPr lang="en-GB" dirty="0">
                <a:solidFill>
                  <a:srgbClr val="0065AA"/>
                </a:solidFill>
              </a:rPr>
              <a:t>: </a:t>
            </a:r>
          </a:p>
          <a:p>
            <a:endParaRPr lang="en-GB" dirty="0">
              <a:solidFill>
                <a:srgbClr val="0065AA"/>
              </a:solidFill>
            </a:endParaRPr>
          </a:p>
        </p:txBody>
      </p:sp>
      <p:sp>
        <p:nvSpPr>
          <p:cNvPr id="27" name="TextBox 26"/>
          <p:cNvSpPr txBox="1"/>
          <p:nvPr/>
        </p:nvSpPr>
        <p:spPr>
          <a:xfrm>
            <a:off x="7679856" y="5678917"/>
            <a:ext cx="4108032" cy="400110"/>
          </a:xfrm>
          <a:prstGeom prst="rect">
            <a:avLst/>
          </a:prstGeom>
          <a:noFill/>
        </p:spPr>
        <p:txBody>
          <a:bodyPr wrap="square" rtlCol="0">
            <a:spAutoFit/>
          </a:bodyPr>
          <a:lstStyle/>
          <a:p>
            <a:r>
              <a:rPr lang="en-GB" altLang="zh-CN" sz="2000" b="1" dirty="0">
                <a:solidFill>
                  <a:schemeClr val="bg1"/>
                </a:solidFill>
                <a:latin typeface="+mj-lt"/>
              </a:rPr>
              <a:t>Yu</a:t>
            </a:r>
            <a:r>
              <a:rPr lang="en-US" altLang="zh-CN" sz="2000" b="1" dirty="0">
                <a:solidFill>
                  <a:schemeClr val="bg1"/>
                </a:solidFill>
                <a:latin typeface="+mj-lt"/>
              </a:rPr>
              <a:t>e Xi</a:t>
            </a:r>
            <a:r>
              <a:rPr lang="en-GB" sz="2000" b="1" dirty="0">
                <a:solidFill>
                  <a:schemeClr val="bg1"/>
                </a:solidFill>
                <a:latin typeface="+mj-lt"/>
              </a:rPr>
              <a:t> et al. 2026</a:t>
            </a:r>
            <a:endParaRPr lang="en-GB" sz="1400" b="1" dirty="0">
              <a:solidFill>
                <a:schemeClr val="bg1"/>
              </a:solidFill>
              <a:latin typeface="+mj-lt"/>
            </a:endParaRPr>
          </a:p>
        </p:txBody>
      </p:sp>
      <p:sp>
        <p:nvSpPr>
          <p:cNvPr id="28" name="TextBox 27"/>
          <p:cNvSpPr txBox="1"/>
          <p:nvPr/>
        </p:nvSpPr>
        <p:spPr>
          <a:xfrm>
            <a:off x="71322" y="5707780"/>
            <a:ext cx="7462684" cy="1200329"/>
          </a:xfrm>
          <a:prstGeom prst="rect">
            <a:avLst/>
          </a:prstGeom>
          <a:noFill/>
        </p:spPr>
        <p:txBody>
          <a:bodyPr wrap="square" rtlCol="0">
            <a:spAutoFit/>
          </a:bodyPr>
          <a:lstStyle/>
          <a:p>
            <a:pPr>
              <a:spcAft>
                <a:spcPts val="600"/>
              </a:spcAft>
            </a:pPr>
            <a:r>
              <a:rPr lang="en-GB" b="1" dirty="0">
                <a:solidFill>
                  <a:schemeClr val="bg1"/>
                </a:solidFill>
              </a:rPr>
              <a:t>CONCLUSION</a:t>
            </a:r>
            <a:r>
              <a:rPr lang="en-GB" dirty="0">
                <a:solidFill>
                  <a:schemeClr val="bg1"/>
                </a:solidFill>
              </a:rPr>
              <a:t>: </a:t>
            </a:r>
            <a:r>
              <a:rPr lang="en-US" dirty="0">
                <a:solidFill>
                  <a:schemeClr val="bg1"/>
                </a:solidFill>
              </a:rPr>
              <a:t>Pediatric CD with renal involvement included proteinuria, acute nephritis, nephrotic syndrome, and acute renal failure. Renal involvement occurred simultaneously with CD and improved rapidly in all patients after etiological treatment of CD and immunosuppressants.</a:t>
            </a:r>
            <a:endParaRPr lang="en-GB" dirty="0">
              <a:solidFill>
                <a:schemeClr val="bg1"/>
              </a:solidFill>
            </a:endParaRPr>
          </a:p>
        </p:txBody>
      </p:sp>
      <p:sp>
        <p:nvSpPr>
          <p:cNvPr id="15" name="TextBox 27">
            <a:extLst>
              <a:ext uri="{FF2B5EF4-FFF2-40B4-BE49-F238E27FC236}">
                <a16:creationId xmlns:a16="http://schemas.microsoft.com/office/drawing/2014/main" id="{E035FA84-5CA4-17DB-EC77-A70C707DACB1}"/>
              </a:ext>
            </a:extLst>
          </p:cNvPr>
          <p:cNvSpPr txBox="1"/>
          <p:nvPr/>
        </p:nvSpPr>
        <p:spPr>
          <a:xfrm>
            <a:off x="5440668" y="3342907"/>
            <a:ext cx="4090379" cy="523220"/>
          </a:xfrm>
          <a:prstGeom prst="rect">
            <a:avLst/>
          </a:prstGeom>
          <a:noFill/>
          <a:ln w="19050">
            <a:noFill/>
          </a:ln>
        </p:spPr>
        <p:txBody>
          <a:bodyPr wrap="square" rtlCol="0">
            <a:spAutoFit/>
          </a:bodyPr>
          <a:lstStyle/>
          <a:p>
            <a:r>
              <a:rPr lang="en-US" altLang="zh-CN" sz="1400" dirty="0">
                <a:solidFill>
                  <a:srgbClr val="296DC0"/>
                </a:solidFill>
              </a:rPr>
              <a:t>Plasma cell subtype and</a:t>
            </a:r>
            <a:r>
              <a:rPr lang="zh-CN" altLang="en-US" sz="1400" dirty="0">
                <a:solidFill>
                  <a:srgbClr val="296DC0"/>
                </a:solidFill>
              </a:rPr>
              <a:t> </a:t>
            </a:r>
            <a:r>
              <a:rPr lang="en-US" altLang="zh-CN" sz="1400" dirty="0">
                <a:solidFill>
                  <a:srgbClr val="296DC0"/>
                </a:solidFill>
              </a:rPr>
              <a:t>elevated </a:t>
            </a:r>
            <a:r>
              <a:rPr lang="en-US" altLang="zh-CN" sz="1400">
                <a:solidFill>
                  <a:srgbClr val="296DC0"/>
                </a:solidFill>
              </a:rPr>
              <a:t>IL-6 were correlated </a:t>
            </a:r>
            <a:r>
              <a:rPr lang="en-US" altLang="zh-CN" sz="1400" dirty="0">
                <a:solidFill>
                  <a:srgbClr val="296DC0"/>
                </a:solidFill>
              </a:rPr>
              <a:t>strongly with renal involvement severity.</a:t>
            </a:r>
          </a:p>
        </p:txBody>
      </p:sp>
      <p:sp>
        <p:nvSpPr>
          <p:cNvPr id="16" name="TextBox 27">
            <a:extLst>
              <a:ext uri="{FF2B5EF4-FFF2-40B4-BE49-F238E27FC236}">
                <a16:creationId xmlns:a16="http://schemas.microsoft.com/office/drawing/2014/main" id="{6D5F8183-753B-2AF8-431D-CC7B6FFAC629}"/>
              </a:ext>
            </a:extLst>
          </p:cNvPr>
          <p:cNvSpPr txBox="1"/>
          <p:nvPr/>
        </p:nvSpPr>
        <p:spPr>
          <a:xfrm>
            <a:off x="5440669" y="2297679"/>
            <a:ext cx="4232429" cy="954107"/>
          </a:xfrm>
          <a:prstGeom prst="rect">
            <a:avLst/>
          </a:prstGeom>
          <a:noFill/>
          <a:ln>
            <a:noFill/>
          </a:ln>
        </p:spPr>
        <p:txBody>
          <a:bodyPr wrap="square" rtlCol="0">
            <a:spAutoFit/>
          </a:bodyPr>
          <a:lstStyle/>
          <a:p>
            <a:r>
              <a:rPr lang="en-US" altLang="zh-CN" sz="1400" dirty="0">
                <a:solidFill>
                  <a:srgbClr val="296DC0"/>
                </a:solidFill>
              </a:rPr>
              <a:t>Renal involvement  typically coincided with CD</a:t>
            </a:r>
            <a:r>
              <a:rPr lang="zh-CN" altLang="en-US" sz="1400" dirty="0">
                <a:solidFill>
                  <a:srgbClr val="296DC0"/>
                </a:solidFill>
              </a:rPr>
              <a:t> </a:t>
            </a:r>
            <a:r>
              <a:rPr lang="en-US" altLang="zh-CN" sz="1400" dirty="0">
                <a:solidFill>
                  <a:srgbClr val="296DC0"/>
                </a:solidFill>
              </a:rPr>
              <a:t>onset.</a:t>
            </a:r>
          </a:p>
          <a:p>
            <a:r>
              <a:rPr lang="en-US" altLang="zh-CN" sz="1400" dirty="0">
                <a:solidFill>
                  <a:srgbClr val="296DC0"/>
                </a:solidFill>
              </a:rPr>
              <a:t>Severe: 15% acute renal failure,</a:t>
            </a:r>
            <a:r>
              <a:rPr lang="zh-CN" altLang="en-US" sz="1400" dirty="0">
                <a:solidFill>
                  <a:srgbClr val="296DC0"/>
                </a:solidFill>
              </a:rPr>
              <a:t> </a:t>
            </a:r>
            <a:r>
              <a:rPr lang="en-US" altLang="zh-CN" sz="1400" dirty="0">
                <a:solidFill>
                  <a:srgbClr val="296DC0"/>
                </a:solidFill>
              </a:rPr>
              <a:t>20% acute nephritis, 10</a:t>
            </a:r>
            <a:r>
              <a:rPr lang="en-US" altLang="zh-CN" sz="1400">
                <a:solidFill>
                  <a:srgbClr val="296DC0"/>
                </a:solidFill>
              </a:rPr>
              <a:t>%</a:t>
            </a:r>
            <a:r>
              <a:rPr lang="en-US" altLang="zh-CN" sz="1400">
                <a:solidFill>
                  <a:srgbClr val="296DC0"/>
                </a:solidFill>
                <a:latin typeface="Times New Roman" charset="0"/>
                <a:cs typeface="Times New Roman" charset="0"/>
              </a:rPr>
              <a:t> </a:t>
            </a:r>
            <a:r>
              <a:rPr lang="en-US" altLang="zh-CN" sz="1400" smtClean="0">
                <a:solidFill>
                  <a:srgbClr val="296DC0"/>
                </a:solidFill>
              </a:rPr>
              <a:t>nephrotic </a:t>
            </a:r>
            <a:r>
              <a:rPr lang="en-US" altLang="zh-CN" sz="1400" dirty="0">
                <a:solidFill>
                  <a:srgbClr val="296DC0"/>
                </a:solidFill>
              </a:rPr>
              <a:t>syndrome </a:t>
            </a:r>
          </a:p>
          <a:p>
            <a:r>
              <a:rPr lang="en-US" altLang="zh-CN" sz="1400" dirty="0">
                <a:solidFill>
                  <a:srgbClr val="296DC0"/>
                </a:solidFill>
              </a:rPr>
              <a:t>Mild: 55% proteinuria</a:t>
            </a:r>
          </a:p>
        </p:txBody>
      </p:sp>
      <p:sp>
        <p:nvSpPr>
          <p:cNvPr id="19" name="TextBox 27">
            <a:extLst>
              <a:ext uri="{FF2B5EF4-FFF2-40B4-BE49-F238E27FC236}">
                <a16:creationId xmlns:a16="http://schemas.microsoft.com/office/drawing/2014/main" id="{255E6AB8-A422-8D0F-31D8-41FB35E9D065}"/>
              </a:ext>
            </a:extLst>
          </p:cNvPr>
          <p:cNvSpPr txBox="1"/>
          <p:nvPr/>
        </p:nvSpPr>
        <p:spPr>
          <a:xfrm>
            <a:off x="5440670" y="4057190"/>
            <a:ext cx="4232428" cy="954107"/>
          </a:xfrm>
          <a:prstGeom prst="rect">
            <a:avLst/>
          </a:prstGeom>
          <a:noFill/>
          <a:ln>
            <a:noFill/>
          </a:ln>
        </p:spPr>
        <p:txBody>
          <a:bodyPr wrap="square" rtlCol="0">
            <a:spAutoFit/>
          </a:bodyPr>
          <a:lstStyle/>
          <a:p>
            <a:r>
              <a:rPr lang="en-US" altLang="zh-CN" sz="1400" dirty="0">
                <a:solidFill>
                  <a:srgbClr val="296DC0"/>
                </a:solidFill>
              </a:rPr>
              <a:t>Renal involvement improved rapidly in all patients after CD etiological treatment.</a:t>
            </a:r>
          </a:p>
          <a:p>
            <a:r>
              <a:rPr lang="en-US" altLang="zh-CN" sz="1400" dirty="0">
                <a:solidFill>
                  <a:srgbClr val="296DC0"/>
                </a:solidFill>
              </a:rPr>
              <a:t>Isolated nephrotic syndrome in CD remission: </a:t>
            </a:r>
          </a:p>
          <a:p>
            <a:r>
              <a:rPr lang="en-US" altLang="zh-CN" sz="1400" dirty="0">
                <a:solidFill>
                  <a:srgbClr val="296DC0"/>
                </a:solidFill>
              </a:rPr>
              <a:t>steroid-resistant, responsive to immunosuppressants</a:t>
            </a:r>
          </a:p>
        </p:txBody>
      </p:sp>
      <p:cxnSp>
        <p:nvCxnSpPr>
          <p:cNvPr id="5" name="Straight Arrow Connector 9">
            <a:extLst>
              <a:ext uri="{FF2B5EF4-FFF2-40B4-BE49-F238E27FC236}">
                <a16:creationId xmlns:a16="http://schemas.microsoft.com/office/drawing/2014/main" id="{6085D856-A320-79FC-16EE-195E90BD35E8}"/>
              </a:ext>
            </a:extLst>
          </p:cNvPr>
          <p:cNvCxnSpPr/>
          <p:nvPr/>
        </p:nvCxnSpPr>
        <p:spPr>
          <a:xfrm>
            <a:off x="2089338" y="3597716"/>
            <a:ext cx="715833" cy="0"/>
          </a:xfrm>
          <a:prstGeom prst="straightConnector1">
            <a:avLst/>
          </a:prstGeom>
          <a:ln w="28575">
            <a:solidFill>
              <a:srgbClr val="296DC0"/>
            </a:solidFill>
            <a:headEnd w="lg" len="med"/>
            <a:tailEnd type="arrow" w="lg" len="med"/>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F20877CF-4293-79C9-B2C9-FCFBA1C3DD3E}"/>
              </a:ext>
            </a:extLst>
          </p:cNvPr>
          <p:cNvGrpSpPr/>
          <p:nvPr/>
        </p:nvGrpSpPr>
        <p:grpSpPr>
          <a:xfrm>
            <a:off x="156113" y="2580557"/>
            <a:ext cx="2676292" cy="2053176"/>
            <a:chOff x="336579" y="2346386"/>
            <a:chExt cx="2689429" cy="2053176"/>
          </a:xfrm>
        </p:grpSpPr>
        <p:sp>
          <p:nvSpPr>
            <p:cNvPr id="3" name="Freeform: Shape 46">
              <a:extLst>
                <a:ext uri="{FF2B5EF4-FFF2-40B4-BE49-F238E27FC236}">
                  <a16:creationId xmlns:a16="http://schemas.microsoft.com/office/drawing/2014/main" id="{2D211D35-4042-F8EA-BC03-517570D72A54}"/>
                </a:ext>
              </a:extLst>
            </p:cNvPr>
            <p:cNvSpPr/>
            <p:nvPr/>
          </p:nvSpPr>
          <p:spPr>
            <a:xfrm>
              <a:off x="971961" y="3007863"/>
              <a:ext cx="338399" cy="706098"/>
            </a:xfrm>
            <a:custGeom>
              <a:avLst/>
              <a:gdLst>
                <a:gd name="connsiteX0" fmla="*/ 427832 w 855663"/>
                <a:gd name="connsiteY0" fmla="*/ 350043 h 1750218"/>
                <a:gd name="connsiteX1" fmla="*/ 556181 w 855663"/>
                <a:gd name="connsiteY1" fmla="*/ 365601 h 1750218"/>
                <a:gd name="connsiteX2" fmla="*/ 719535 w 855663"/>
                <a:gd name="connsiteY2" fmla="*/ 451168 h 1750218"/>
                <a:gd name="connsiteX3" fmla="*/ 742872 w 855663"/>
                <a:gd name="connsiteY3" fmla="*/ 493950 h 1750218"/>
                <a:gd name="connsiteX4" fmla="*/ 851774 w 855663"/>
                <a:gd name="connsiteY4" fmla="*/ 956786 h 1750218"/>
                <a:gd name="connsiteX5" fmla="*/ 855663 w 855663"/>
                <a:gd name="connsiteY5" fmla="*/ 976232 h 1750218"/>
                <a:gd name="connsiteX6" fmla="*/ 777876 w 855663"/>
                <a:gd name="connsiteY6" fmla="*/ 1054020 h 1750218"/>
                <a:gd name="connsiteX7" fmla="*/ 703977 w 855663"/>
                <a:gd name="connsiteY7" fmla="*/ 995680 h 1750218"/>
                <a:gd name="connsiteX8" fmla="*/ 622301 w 855663"/>
                <a:gd name="connsiteY8" fmla="*/ 657304 h 1750218"/>
                <a:gd name="connsiteX9" fmla="*/ 622301 w 855663"/>
                <a:gd name="connsiteY9" fmla="*/ 1750218 h 1750218"/>
                <a:gd name="connsiteX10" fmla="*/ 466726 w 855663"/>
                <a:gd name="connsiteY10" fmla="*/ 1750218 h 1750218"/>
                <a:gd name="connsiteX11" fmla="*/ 466726 w 855663"/>
                <a:gd name="connsiteY11" fmla="*/ 1050131 h 1750218"/>
                <a:gd name="connsiteX12" fmla="*/ 388938 w 855663"/>
                <a:gd name="connsiteY12" fmla="*/ 1050131 h 1750218"/>
                <a:gd name="connsiteX13" fmla="*/ 388938 w 855663"/>
                <a:gd name="connsiteY13" fmla="*/ 1750218 h 1750218"/>
                <a:gd name="connsiteX14" fmla="*/ 233363 w 855663"/>
                <a:gd name="connsiteY14" fmla="*/ 1750218 h 1750218"/>
                <a:gd name="connsiteX15" fmla="*/ 233363 w 855663"/>
                <a:gd name="connsiteY15" fmla="*/ 661193 h 1750218"/>
                <a:gd name="connsiteX16" fmla="*/ 151686 w 855663"/>
                <a:gd name="connsiteY16" fmla="*/ 999569 h 1750218"/>
                <a:gd name="connsiteX17" fmla="*/ 77788 w 855663"/>
                <a:gd name="connsiteY17" fmla="*/ 1057910 h 1750218"/>
                <a:gd name="connsiteX18" fmla="*/ 0 w 855663"/>
                <a:gd name="connsiteY18" fmla="*/ 980123 h 1750218"/>
                <a:gd name="connsiteX19" fmla="*/ 3889 w 855663"/>
                <a:gd name="connsiteY19" fmla="*/ 960675 h 1750218"/>
                <a:gd name="connsiteX20" fmla="*/ 112792 w 855663"/>
                <a:gd name="connsiteY20" fmla="*/ 497840 h 1750218"/>
                <a:gd name="connsiteX21" fmla="*/ 136129 w 855663"/>
                <a:gd name="connsiteY21" fmla="*/ 455057 h 1750218"/>
                <a:gd name="connsiteX22" fmla="*/ 299482 w 855663"/>
                <a:gd name="connsiteY22" fmla="*/ 369490 h 1750218"/>
                <a:gd name="connsiteX23" fmla="*/ 427832 w 855663"/>
                <a:gd name="connsiteY23" fmla="*/ 350043 h 1750218"/>
                <a:gd name="connsiteX24" fmla="*/ 427831 w 855663"/>
                <a:gd name="connsiteY24" fmla="*/ 0 h 1750218"/>
                <a:gd name="connsiteX25" fmla="*/ 583406 w 855663"/>
                <a:gd name="connsiteY25" fmla="*/ 155575 h 1750218"/>
                <a:gd name="connsiteX26" fmla="*/ 427831 w 855663"/>
                <a:gd name="connsiteY26" fmla="*/ 311150 h 1750218"/>
                <a:gd name="connsiteX27" fmla="*/ 272256 w 855663"/>
                <a:gd name="connsiteY27" fmla="*/ 155575 h 1750218"/>
                <a:gd name="connsiteX28" fmla="*/ 427831 w 855663"/>
                <a:gd name="connsiteY28" fmla="*/ 0 h 1750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55663" h="1750218">
                  <a:moveTo>
                    <a:pt x="427832" y="350043"/>
                  </a:moveTo>
                  <a:cubicBezTo>
                    <a:pt x="470615" y="350043"/>
                    <a:pt x="513398" y="357821"/>
                    <a:pt x="556181" y="365601"/>
                  </a:cubicBezTo>
                  <a:cubicBezTo>
                    <a:pt x="618412" y="385047"/>
                    <a:pt x="672862" y="412273"/>
                    <a:pt x="719535" y="451168"/>
                  </a:cubicBezTo>
                  <a:cubicBezTo>
                    <a:pt x="731203" y="462835"/>
                    <a:pt x="738983" y="478392"/>
                    <a:pt x="742872" y="493950"/>
                  </a:cubicBezTo>
                  <a:lnTo>
                    <a:pt x="851774" y="956786"/>
                  </a:lnTo>
                  <a:cubicBezTo>
                    <a:pt x="851774" y="960675"/>
                    <a:pt x="855663" y="968454"/>
                    <a:pt x="855663" y="976232"/>
                  </a:cubicBezTo>
                  <a:cubicBezTo>
                    <a:pt x="855663" y="1019016"/>
                    <a:pt x="820659" y="1054020"/>
                    <a:pt x="777876" y="1054020"/>
                  </a:cubicBezTo>
                  <a:cubicBezTo>
                    <a:pt x="742872" y="1054020"/>
                    <a:pt x="711757" y="1026795"/>
                    <a:pt x="703977" y="995680"/>
                  </a:cubicBezTo>
                  <a:lnTo>
                    <a:pt x="622301" y="657304"/>
                  </a:lnTo>
                  <a:lnTo>
                    <a:pt x="622301" y="1750218"/>
                  </a:lnTo>
                  <a:lnTo>
                    <a:pt x="466726" y="1750218"/>
                  </a:lnTo>
                  <a:lnTo>
                    <a:pt x="466726" y="1050131"/>
                  </a:lnTo>
                  <a:lnTo>
                    <a:pt x="388938" y="1050131"/>
                  </a:lnTo>
                  <a:lnTo>
                    <a:pt x="388938" y="1750218"/>
                  </a:lnTo>
                  <a:lnTo>
                    <a:pt x="233363" y="1750218"/>
                  </a:lnTo>
                  <a:lnTo>
                    <a:pt x="233363" y="661193"/>
                  </a:lnTo>
                  <a:lnTo>
                    <a:pt x="151686" y="999569"/>
                  </a:lnTo>
                  <a:cubicBezTo>
                    <a:pt x="143907" y="1030684"/>
                    <a:pt x="112792" y="1057910"/>
                    <a:pt x="77788" y="1057910"/>
                  </a:cubicBezTo>
                  <a:cubicBezTo>
                    <a:pt x="35004" y="1057910"/>
                    <a:pt x="0" y="1022905"/>
                    <a:pt x="0" y="980123"/>
                  </a:cubicBezTo>
                  <a:cubicBezTo>
                    <a:pt x="0" y="972343"/>
                    <a:pt x="3889" y="964564"/>
                    <a:pt x="3889" y="960675"/>
                  </a:cubicBezTo>
                  <a:lnTo>
                    <a:pt x="112792" y="497840"/>
                  </a:lnTo>
                  <a:cubicBezTo>
                    <a:pt x="116682" y="482281"/>
                    <a:pt x="124460" y="466725"/>
                    <a:pt x="136129" y="455057"/>
                  </a:cubicBezTo>
                  <a:cubicBezTo>
                    <a:pt x="182801" y="416162"/>
                    <a:pt x="237252" y="385047"/>
                    <a:pt x="299482" y="369490"/>
                  </a:cubicBezTo>
                  <a:cubicBezTo>
                    <a:pt x="342265" y="357821"/>
                    <a:pt x="385049" y="350043"/>
                    <a:pt x="427832" y="350043"/>
                  </a:cubicBezTo>
                  <a:close/>
                  <a:moveTo>
                    <a:pt x="427831" y="0"/>
                  </a:moveTo>
                  <a:cubicBezTo>
                    <a:pt x="513753" y="0"/>
                    <a:pt x="583406" y="69653"/>
                    <a:pt x="583406" y="155575"/>
                  </a:cubicBezTo>
                  <a:cubicBezTo>
                    <a:pt x="583406" y="241496"/>
                    <a:pt x="513753" y="311150"/>
                    <a:pt x="427831" y="311150"/>
                  </a:cubicBezTo>
                  <a:cubicBezTo>
                    <a:pt x="341910" y="311150"/>
                    <a:pt x="272256" y="241496"/>
                    <a:pt x="272256" y="155575"/>
                  </a:cubicBezTo>
                  <a:cubicBezTo>
                    <a:pt x="272256" y="69653"/>
                    <a:pt x="341910" y="0"/>
                    <a:pt x="427831" y="0"/>
                  </a:cubicBezTo>
                  <a:close/>
                </a:path>
              </a:pathLst>
            </a:custGeom>
            <a:solidFill>
              <a:srgbClr val="296DC0"/>
            </a:solidFill>
            <a:ln w="15081" cap="flat">
              <a:noFill/>
              <a:prstDash val="solid"/>
              <a:miter/>
            </a:ln>
          </p:spPr>
          <p:txBody>
            <a:bodyPr wrap="square" rtlCol="0" anchor="ctr">
              <a:noAutofit/>
            </a:bodyPr>
            <a:lstStyle/>
            <a:p>
              <a:endParaRPr lang="en-US"/>
            </a:p>
          </p:txBody>
        </p:sp>
        <p:sp>
          <p:nvSpPr>
            <p:cNvPr id="6" name="Freeform: Shape 46">
              <a:extLst>
                <a:ext uri="{FF2B5EF4-FFF2-40B4-BE49-F238E27FC236}">
                  <a16:creationId xmlns:a16="http://schemas.microsoft.com/office/drawing/2014/main" id="{F05126B2-B063-2A2B-D85F-697F593AB4F4}"/>
                </a:ext>
              </a:extLst>
            </p:cNvPr>
            <p:cNvSpPr/>
            <p:nvPr/>
          </p:nvSpPr>
          <p:spPr>
            <a:xfrm>
              <a:off x="1336246" y="3000188"/>
              <a:ext cx="338399" cy="706098"/>
            </a:xfrm>
            <a:custGeom>
              <a:avLst/>
              <a:gdLst>
                <a:gd name="connsiteX0" fmla="*/ 427832 w 855663"/>
                <a:gd name="connsiteY0" fmla="*/ 350043 h 1750218"/>
                <a:gd name="connsiteX1" fmla="*/ 556181 w 855663"/>
                <a:gd name="connsiteY1" fmla="*/ 365601 h 1750218"/>
                <a:gd name="connsiteX2" fmla="*/ 719535 w 855663"/>
                <a:gd name="connsiteY2" fmla="*/ 451168 h 1750218"/>
                <a:gd name="connsiteX3" fmla="*/ 742872 w 855663"/>
                <a:gd name="connsiteY3" fmla="*/ 493950 h 1750218"/>
                <a:gd name="connsiteX4" fmla="*/ 851774 w 855663"/>
                <a:gd name="connsiteY4" fmla="*/ 956786 h 1750218"/>
                <a:gd name="connsiteX5" fmla="*/ 855663 w 855663"/>
                <a:gd name="connsiteY5" fmla="*/ 976232 h 1750218"/>
                <a:gd name="connsiteX6" fmla="*/ 777876 w 855663"/>
                <a:gd name="connsiteY6" fmla="*/ 1054020 h 1750218"/>
                <a:gd name="connsiteX7" fmla="*/ 703977 w 855663"/>
                <a:gd name="connsiteY7" fmla="*/ 995680 h 1750218"/>
                <a:gd name="connsiteX8" fmla="*/ 622301 w 855663"/>
                <a:gd name="connsiteY8" fmla="*/ 657304 h 1750218"/>
                <a:gd name="connsiteX9" fmla="*/ 622301 w 855663"/>
                <a:gd name="connsiteY9" fmla="*/ 1750218 h 1750218"/>
                <a:gd name="connsiteX10" fmla="*/ 466726 w 855663"/>
                <a:gd name="connsiteY10" fmla="*/ 1750218 h 1750218"/>
                <a:gd name="connsiteX11" fmla="*/ 466726 w 855663"/>
                <a:gd name="connsiteY11" fmla="*/ 1050131 h 1750218"/>
                <a:gd name="connsiteX12" fmla="*/ 388938 w 855663"/>
                <a:gd name="connsiteY12" fmla="*/ 1050131 h 1750218"/>
                <a:gd name="connsiteX13" fmla="*/ 388938 w 855663"/>
                <a:gd name="connsiteY13" fmla="*/ 1750218 h 1750218"/>
                <a:gd name="connsiteX14" fmla="*/ 233363 w 855663"/>
                <a:gd name="connsiteY14" fmla="*/ 1750218 h 1750218"/>
                <a:gd name="connsiteX15" fmla="*/ 233363 w 855663"/>
                <a:gd name="connsiteY15" fmla="*/ 661193 h 1750218"/>
                <a:gd name="connsiteX16" fmla="*/ 151686 w 855663"/>
                <a:gd name="connsiteY16" fmla="*/ 999569 h 1750218"/>
                <a:gd name="connsiteX17" fmla="*/ 77788 w 855663"/>
                <a:gd name="connsiteY17" fmla="*/ 1057910 h 1750218"/>
                <a:gd name="connsiteX18" fmla="*/ 0 w 855663"/>
                <a:gd name="connsiteY18" fmla="*/ 980123 h 1750218"/>
                <a:gd name="connsiteX19" fmla="*/ 3889 w 855663"/>
                <a:gd name="connsiteY19" fmla="*/ 960675 h 1750218"/>
                <a:gd name="connsiteX20" fmla="*/ 112792 w 855663"/>
                <a:gd name="connsiteY20" fmla="*/ 497840 h 1750218"/>
                <a:gd name="connsiteX21" fmla="*/ 136129 w 855663"/>
                <a:gd name="connsiteY21" fmla="*/ 455057 h 1750218"/>
                <a:gd name="connsiteX22" fmla="*/ 299482 w 855663"/>
                <a:gd name="connsiteY22" fmla="*/ 369490 h 1750218"/>
                <a:gd name="connsiteX23" fmla="*/ 427832 w 855663"/>
                <a:gd name="connsiteY23" fmla="*/ 350043 h 1750218"/>
                <a:gd name="connsiteX24" fmla="*/ 427831 w 855663"/>
                <a:gd name="connsiteY24" fmla="*/ 0 h 1750218"/>
                <a:gd name="connsiteX25" fmla="*/ 583406 w 855663"/>
                <a:gd name="connsiteY25" fmla="*/ 155575 h 1750218"/>
                <a:gd name="connsiteX26" fmla="*/ 427831 w 855663"/>
                <a:gd name="connsiteY26" fmla="*/ 311150 h 1750218"/>
                <a:gd name="connsiteX27" fmla="*/ 272256 w 855663"/>
                <a:gd name="connsiteY27" fmla="*/ 155575 h 1750218"/>
                <a:gd name="connsiteX28" fmla="*/ 427831 w 855663"/>
                <a:gd name="connsiteY28" fmla="*/ 0 h 1750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55663" h="1750218">
                  <a:moveTo>
                    <a:pt x="427832" y="350043"/>
                  </a:moveTo>
                  <a:cubicBezTo>
                    <a:pt x="470615" y="350043"/>
                    <a:pt x="513398" y="357821"/>
                    <a:pt x="556181" y="365601"/>
                  </a:cubicBezTo>
                  <a:cubicBezTo>
                    <a:pt x="618412" y="385047"/>
                    <a:pt x="672862" y="412273"/>
                    <a:pt x="719535" y="451168"/>
                  </a:cubicBezTo>
                  <a:cubicBezTo>
                    <a:pt x="731203" y="462835"/>
                    <a:pt x="738983" y="478392"/>
                    <a:pt x="742872" y="493950"/>
                  </a:cubicBezTo>
                  <a:lnTo>
                    <a:pt x="851774" y="956786"/>
                  </a:lnTo>
                  <a:cubicBezTo>
                    <a:pt x="851774" y="960675"/>
                    <a:pt x="855663" y="968454"/>
                    <a:pt x="855663" y="976232"/>
                  </a:cubicBezTo>
                  <a:cubicBezTo>
                    <a:pt x="855663" y="1019016"/>
                    <a:pt x="820659" y="1054020"/>
                    <a:pt x="777876" y="1054020"/>
                  </a:cubicBezTo>
                  <a:cubicBezTo>
                    <a:pt x="742872" y="1054020"/>
                    <a:pt x="711757" y="1026795"/>
                    <a:pt x="703977" y="995680"/>
                  </a:cubicBezTo>
                  <a:lnTo>
                    <a:pt x="622301" y="657304"/>
                  </a:lnTo>
                  <a:lnTo>
                    <a:pt x="622301" y="1750218"/>
                  </a:lnTo>
                  <a:lnTo>
                    <a:pt x="466726" y="1750218"/>
                  </a:lnTo>
                  <a:lnTo>
                    <a:pt x="466726" y="1050131"/>
                  </a:lnTo>
                  <a:lnTo>
                    <a:pt x="388938" y="1050131"/>
                  </a:lnTo>
                  <a:lnTo>
                    <a:pt x="388938" y="1750218"/>
                  </a:lnTo>
                  <a:lnTo>
                    <a:pt x="233363" y="1750218"/>
                  </a:lnTo>
                  <a:lnTo>
                    <a:pt x="233363" y="661193"/>
                  </a:lnTo>
                  <a:lnTo>
                    <a:pt x="151686" y="999569"/>
                  </a:lnTo>
                  <a:cubicBezTo>
                    <a:pt x="143907" y="1030684"/>
                    <a:pt x="112792" y="1057910"/>
                    <a:pt x="77788" y="1057910"/>
                  </a:cubicBezTo>
                  <a:cubicBezTo>
                    <a:pt x="35004" y="1057910"/>
                    <a:pt x="0" y="1022905"/>
                    <a:pt x="0" y="980123"/>
                  </a:cubicBezTo>
                  <a:cubicBezTo>
                    <a:pt x="0" y="972343"/>
                    <a:pt x="3889" y="964564"/>
                    <a:pt x="3889" y="960675"/>
                  </a:cubicBezTo>
                  <a:lnTo>
                    <a:pt x="112792" y="497840"/>
                  </a:lnTo>
                  <a:cubicBezTo>
                    <a:pt x="116682" y="482281"/>
                    <a:pt x="124460" y="466725"/>
                    <a:pt x="136129" y="455057"/>
                  </a:cubicBezTo>
                  <a:cubicBezTo>
                    <a:pt x="182801" y="416162"/>
                    <a:pt x="237252" y="385047"/>
                    <a:pt x="299482" y="369490"/>
                  </a:cubicBezTo>
                  <a:cubicBezTo>
                    <a:pt x="342265" y="357821"/>
                    <a:pt x="385049" y="350043"/>
                    <a:pt x="427832" y="350043"/>
                  </a:cubicBezTo>
                  <a:close/>
                  <a:moveTo>
                    <a:pt x="427831" y="0"/>
                  </a:moveTo>
                  <a:cubicBezTo>
                    <a:pt x="513753" y="0"/>
                    <a:pt x="583406" y="69653"/>
                    <a:pt x="583406" y="155575"/>
                  </a:cubicBezTo>
                  <a:cubicBezTo>
                    <a:pt x="583406" y="241496"/>
                    <a:pt x="513753" y="311150"/>
                    <a:pt x="427831" y="311150"/>
                  </a:cubicBezTo>
                  <a:cubicBezTo>
                    <a:pt x="341910" y="311150"/>
                    <a:pt x="272256" y="241496"/>
                    <a:pt x="272256" y="155575"/>
                  </a:cubicBezTo>
                  <a:cubicBezTo>
                    <a:pt x="272256" y="69653"/>
                    <a:pt x="341910" y="0"/>
                    <a:pt x="427831" y="0"/>
                  </a:cubicBezTo>
                  <a:close/>
                </a:path>
              </a:pathLst>
            </a:custGeom>
            <a:solidFill>
              <a:srgbClr val="AA0065"/>
            </a:solidFill>
            <a:ln w="15081" cap="flat">
              <a:noFill/>
              <a:prstDash val="solid"/>
              <a:miter/>
            </a:ln>
          </p:spPr>
          <p:txBody>
            <a:bodyPr wrap="square" rtlCol="0" anchor="ctr">
              <a:noAutofit/>
            </a:bodyPr>
            <a:lstStyle/>
            <a:p>
              <a:endParaRPr lang="en-US"/>
            </a:p>
          </p:txBody>
        </p:sp>
        <p:sp>
          <p:nvSpPr>
            <p:cNvPr id="7" name="TextBox 27">
              <a:extLst>
                <a:ext uri="{FF2B5EF4-FFF2-40B4-BE49-F238E27FC236}">
                  <a16:creationId xmlns:a16="http://schemas.microsoft.com/office/drawing/2014/main" id="{A180A62A-822C-594E-1021-066209CD3765}"/>
                </a:ext>
              </a:extLst>
            </p:cNvPr>
            <p:cNvSpPr txBox="1"/>
            <p:nvPr/>
          </p:nvSpPr>
          <p:spPr>
            <a:xfrm>
              <a:off x="336579" y="3778176"/>
              <a:ext cx="2689429" cy="400110"/>
            </a:xfrm>
            <a:prstGeom prst="rect">
              <a:avLst/>
            </a:prstGeom>
            <a:noFill/>
            <a:ln>
              <a:noFill/>
            </a:ln>
          </p:spPr>
          <p:txBody>
            <a:bodyPr wrap="square" rtlCol="0">
              <a:spAutoFit/>
            </a:bodyPr>
            <a:lstStyle/>
            <a:p>
              <a:r>
                <a:rPr lang="en-US" altLang="zh-CN" sz="1000" dirty="0">
                  <a:solidFill>
                    <a:srgbClr val="296DC0"/>
                  </a:solidFill>
                </a:rPr>
                <a:t>CD with renal involvement (20)</a:t>
              </a:r>
            </a:p>
            <a:p>
              <a:r>
                <a:rPr lang="en-US" altLang="zh-CN" sz="1000" dirty="0">
                  <a:solidFill>
                    <a:srgbClr val="296DC0"/>
                  </a:solidFill>
                </a:rPr>
                <a:t>CD without</a:t>
              </a:r>
              <a:r>
                <a:rPr lang="zh-CN" altLang="en-US" sz="1000" dirty="0">
                  <a:solidFill>
                    <a:srgbClr val="296DC0"/>
                  </a:solidFill>
                </a:rPr>
                <a:t> </a:t>
              </a:r>
              <a:r>
                <a:rPr lang="en-US" altLang="zh-CN" sz="1000" dirty="0">
                  <a:solidFill>
                    <a:srgbClr val="296DC0"/>
                  </a:solidFill>
                </a:rPr>
                <a:t>renal involvement (22)</a:t>
              </a:r>
            </a:p>
          </p:txBody>
        </p:sp>
        <p:sp>
          <p:nvSpPr>
            <p:cNvPr id="18" name="Rectangle 39">
              <a:extLst>
                <a:ext uri="{FF2B5EF4-FFF2-40B4-BE49-F238E27FC236}">
                  <a16:creationId xmlns:a16="http://schemas.microsoft.com/office/drawing/2014/main" id="{FF6E9F32-10BE-C813-B3CD-8BF8DB7E57F1}"/>
                </a:ext>
              </a:extLst>
            </p:cNvPr>
            <p:cNvSpPr/>
            <p:nvPr/>
          </p:nvSpPr>
          <p:spPr>
            <a:xfrm>
              <a:off x="376322" y="2346386"/>
              <a:ext cx="1860496" cy="2053176"/>
            </a:xfrm>
            <a:prstGeom prst="rect">
              <a:avLst/>
            </a:prstGeom>
            <a:noFill/>
            <a:ln w="41275">
              <a:solidFill>
                <a:srgbClr val="296DC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65AA00"/>
                </a:solidFill>
              </a:endParaRPr>
            </a:p>
          </p:txBody>
        </p:sp>
        <p:sp>
          <p:nvSpPr>
            <p:cNvPr id="11" name="文本框 10">
              <a:extLst>
                <a:ext uri="{FF2B5EF4-FFF2-40B4-BE49-F238E27FC236}">
                  <a16:creationId xmlns:a16="http://schemas.microsoft.com/office/drawing/2014/main" id="{59DF6394-A99D-81D2-1C5A-9992F7BA8E29}"/>
                </a:ext>
              </a:extLst>
            </p:cNvPr>
            <p:cNvSpPr txBox="1"/>
            <p:nvPr/>
          </p:nvSpPr>
          <p:spPr>
            <a:xfrm>
              <a:off x="515611" y="2451470"/>
              <a:ext cx="1581916" cy="584775"/>
            </a:xfrm>
            <a:prstGeom prst="rect">
              <a:avLst/>
            </a:prstGeom>
            <a:noFill/>
          </p:spPr>
          <p:txBody>
            <a:bodyPr wrap="square">
              <a:spAutoFit/>
            </a:bodyPr>
            <a:lstStyle/>
            <a:p>
              <a:pPr algn="ctr"/>
              <a:r>
                <a:rPr lang="en-US" altLang="zh-CN" sz="1600" b="1" dirty="0">
                  <a:solidFill>
                    <a:srgbClr val="296DC0"/>
                  </a:solidFill>
                </a:rPr>
                <a:t>42</a:t>
              </a:r>
              <a:r>
                <a:rPr lang="en-GB" altLang="zh-CN" sz="1600" b="1" dirty="0">
                  <a:solidFill>
                    <a:srgbClr val="296DC0"/>
                  </a:solidFill>
                </a:rPr>
                <a:t> </a:t>
              </a:r>
              <a:r>
                <a:rPr lang="en-US" altLang="zh-CN" sz="1600" b="1" dirty="0">
                  <a:solidFill>
                    <a:srgbClr val="296DC0"/>
                  </a:solidFill>
                </a:rPr>
                <a:t>children diagnosed CD</a:t>
              </a:r>
            </a:p>
          </p:txBody>
        </p:sp>
      </p:grpSp>
      <p:sp>
        <p:nvSpPr>
          <p:cNvPr id="8" name="文本框 7">
            <a:extLst>
              <a:ext uri="{FF2B5EF4-FFF2-40B4-BE49-F238E27FC236}">
                <a16:creationId xmlns:a16="http://schemas.microsoft.com/office/drawing/2014/main" id="{47DFE576-CE33-6BD9-0EEC-7B0D5C640BC5}"/>
              </a:ext>
            </a:extLst>
          </p:cNvPr>
          <p:cNvSpPr txBox="1"/>
          <p:nvPr/>
        </p:nvSpPr>
        <p:spPr>
          <a:xfrm>
            <a:off x="9467385" y="5394880"/>
            <a:ext cx="4168789" cy="276999"/>
          </a:xfrm>
          <a:prstGeom prst="rect">
            <a:avLst/>
          </a:prstGeom>
          <a:noFill/>
        </p:spPr>
        <p:txBody>
          <a:bodyPr wrap="square">
            <a:spAutoFit/>
          </a:bodyPr>
          <a:lstStyle/>
          <a:p>
            <a:r>
              <a:rPr lang="en-US" altLang="zh-CN" sz="1200" b="1" dirty="0"/>
              <a:t>Abbreviations: </a:t>
            </a:r>
            <a:r>
              <a:rPr lang="en-US" altLang="zh-CN" sz="1200" dirty="0"/>
              <a:t>CD,  </a:t>
            </a:r>
            <a:r>
              <a:rPr lang="en-US" altLang="zh-CN" sz="1200"/>
              <a:t>Castleman disease</a:t>
            </a:r>
            <a:endParaRPr lang="en-US" altLang="zh-CN" sz="1200" dirty="0"/>
          </a:p>
        </p:txBody>
      </p:sp>
      <p:sp>
        <p:nvSpPr>
          <p:cNvPr id="30" name="Rectangle 4"/>
          <p:cNvSpPr>
            <a:spLocks noChangeArrowheads="1"/>
          </p:cNvSpPr>
          <p:nvPr/>
        </p:nvSpPr>
        <p:spPr bwMode="auto">
          <a:xfrm flipV="1">
            <a:off x="13570973" y="-1"/>
            <a:ext cx="81107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38" name="Rectangle 11"/>
          <p:cNvSpPr>
            <a:spLocks noChangeArrowheads="1"/>
          </p:cNvSpPr>
          <p:nvPr/>
        </p:nvSpPr>
        <p:spPr bwMode="auto">
          <a:xfrm>
            <a:off x="173448" y="-16076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29" name="Straight Arrow Connector 9">
            <a:extLst>
              <a:ext uri="{FF2B5EF4-FFF2-40B4-BE49-F238E27FC236}">
                <a16:creationId xmlns:a16="http://schemas.microsoft.com/office/drawing/2014/main" id="{5A8FF476-153B-641D-EE6D-81D2888E4D2D}"/>
              </a:ext>
            </a:extLst>
          </p:cNvPr>
          <p:cNvCxnSpPr/>
          <p:nvPr/>
        </p:nvCxnSpPr>
        <p:spPr>
          <a:xfrm>
            <a:off x="4756526" y="3597716"/>
            <a:ext cx="715833" cy="0"/>
          </a:xfrm>
          <a:prstGeom prst="straightConnector1">
            <a:avLst/>
          </a:prstGeom>
          <a:ln w="28575">
            <a:solidFill>
              <a:srgbClr val="296DC0"/>
            </a:solidFill>
            <a:headEnd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33" name="Straight Arrow Connector 36">
            <a:extLst>
              <a:ext uri="{FF2B5EF4-FFF2-40B4-BE49-F238E27FC236}">
                <a16:creationId xmlns:a16="http://schemas.microsoft.com/office/drawing/2014/main" id="{972EB8A3-20DC-7BBF-E3CC-7F37637A892E}"/>
              </a:ext>
            </a:extLst>
          </p:cNvPr>
          <p:cNvCxnSpPr>
            <a:cxnSpLocks/>
          </p:cNvCxnSpPr>
          <p:nvPr/>
        </p:nvCxnSpPr>
        <p:spPr>
          <a:xfrm flipV="1">
            <a:off x="4771059" y="2869721"/>
            <a:ext cx="701300" cy="527416"/>
          </a:xfrm>
          <a:prstGeom prst="straightConnector1">
            <a:avLst/>
          </a:prstGeom>
          <a:ln w="28575">
            <a:solidFill>
              <a:srgbClr val="296DC0"/>
            </a:solidFill>
            <a:headEnd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34" name="Straight Arrow Connector 36">
            <a:extLst>
              <a:ext uri="{FF2B5EF4-FFF2-40B4-BE49-F238E27FC236}">
                <a16:creationId xmlns:a16="http://schemas.microsoft.com/office/drawing/2014/main" id="{FDCF8C35-396B-EB21-A880-44F0132990CA}"/>
              </a:ext>
            </a:extLst>
          </p:cNvPr>
          <p:cNvCxnSpPr>
            <a:cxnSpLocks/>
          </p:cNvCxnSpPr>
          <p:nvPr/>
        </p:nvCxnSpPr>
        <p:spPr>
          <a:xfrm>
            <a:off x="4771059" y="3794451"/>
            <a:ext cx="701300" cy="527416"/>
          </a:xfrm>
          <a:prstGeom prst="straightConnector1">
            <a:avLst/>
          </a:prstGeom>
          <a:ln w="28575">
            <a:solidFill>
              <a:srgbClr val="296DC0"/>
            </a:solidFill>
            <a:headEnd w="lg" len="med"/>
            <a:tailEnd type="arrow" w="lg" len="med"/>
          </a:ln>
        </p:spPr>
        <p:style>
          <a:lnRef idx="1">
            <a:schemeClr val="accent1"/>
          </a:lnRef>
          <a:fillRef idx="0">
            <a:schemeClr val="accent1"/>
          </a:fillRef>
          <a:effectRef idx="0">
            <a:schemeClr val="accent1"/>
          </a:effectRef>
          <a:fontRef idx="minor">
            <a:schemeClr val="tx1"/>
          </a:fontRef>
        </p:style>
      </p:cxnSp>
      <p:grpSp>
        <p:nvGrpSpPr>
          <p:cNvPr id="35" name="组合 3">
            <a:extLst>
              <a:ext uri="{FF2B5EF4-FFF2-40B4-BE49-F238E27FC236}">
                <a16:creationId xmlns:a16="http://schemas.microsoft.com/office/drawing/2014/main" id="{138AA9C9-57C6-E4A8-A5CF-E7741C49F637}"/>
              </a:ext>
            </a:extLst>
          </p:cNvPr>
          <p:cNvGrpSpPr/>
          <p:nvPr/>
        </p:nvGrpSpPr>
        <p:grpSpPr>
          <a:xfrm>
            <a:off x="2805171" y="3080178"/>
            <a:ext cx="2012408" cy="1025867"/>
            <a:chOff x="2189465" y="3179525"/>
            <a:chExt cx="1364400" cy="833137"/>
          </a:xfrm>
        </p:grpSpPr>
        <p:sp>
          <p:nvSpPr>
            <p:cNvPr id="36" name="Rectangle 55">
              <a:extLst>
                <a:ext uri="{FF2B5EF4-FFF2-40B4-BE49-F238E27FC236}">
                  <a16:creationId xmlns:a16="http://schemas.microsoft.com/office/drawing/2014/main" id="{C9BABC2C-33D5-1DC5-163D-BBD8E50D79B7}"/>
                </a:ext>
              </a:extLst>
            </p:cNvPr>
            <p:cNvSpPr/>
            <p:nvPr/>
          </p:nvSpPr>
          <p:spPr>
            <a:xfrm>
              <a:off x="2189926" y="3179525"/>
              <a:ext cx="1363939" cy="421200"/>
            </a:xfrm>
            <a:prstGeom prst="rect">
              <a:avLst/>
            </a:prstGeom>
            <a:solidFill>
              <a:srgbClr val="AA0065"/>
            </a:solidFill>
            <a:ln w="41275">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Clinical</a:t>
              </a:r>
            </a:p>
            <a:p>
              <a:pPr algn="ctr"/>
              <a:r>
                <a:rPr lang="en-US" altLang="zh-CN" sz="1400" dirty="0"/>
                <a:t>manifestations</a:t>
              </a:r>
              <a:endParaRPr lang="en-GB" sz="1400" dirty="0"/>
            </a:p>
          </p:txBody>
        </p:sp>
        <p:sp>
          <p:nvSpPr>
            <p:cNvPr id="37" name="Rectangle 19">
              <a:extLst>
                <a:ext uri="{FF2B5EF4-FFF2-40B4-BE49-F238E27FC236}">
                  <a16:creationId xmlns:a16="http://schemas.microsoft.com/office/drawing/2014/main" id="{060FB974-CEE1-E2F7-DB6E-99382B45786A}"/>
                </a:ext>
              </a:extLst>
            </p:cNvPr>
            <p:cNvSpPr/>
            <p:nvPr/>
          </p:nvSpPr>
          <p:spPr>
            <a:xfrm>
              <a:off x="2189465" y="3591462"/>
              <a:ext cx="1364400" cy="421200"/>
            </a:xfrm>
            <a:prstGeom prst="rect">
              <a:avLst/>
            </a:prstGeom>
            <a:solidFill>
              <a:srgbClr val="296DC0"/>
            </a:solidFill>
            <a:ln w="41275">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Renal pathology</a:t>
              </a:r>
            </a:p>
          </p:txBody>
        </p:sp>
      </p:gr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3098" y="1663177"/>
            <a:ext cx="2518902" cy="1840211"/>
          </a:xfrm>
          <a:prstGeom prst="rect">
            <a:avLst/>
          </a:prstGeom>
        </p:spPr>
      </p:pic>
      <p:graphicFrame>
        <p:nvGraphicFramePr>
          <p:cNvPr id="39" name="对象 38"/>
          <p:cNvGraphicFramePr>
            <a:graphicFrameLocks noChangeAspect="1"/>
          </p:cNvGraphicFramePr>
          <p:nvPr>
            <p:extLst>
              <p:ext uri="{D42A27DB-BD31-4B8C-83A1-F6EECF244321}">
                <p14:modId xmlns:p14="http://schemas.microsoft.com/office/powerpoint/2010/main" val="1209033635"/>
              </p:ext>
            </p:extLst>
          </p:nvPr>
        </p:nvGraphicFramePr>
        <p:xfrm>
          <a:off x="9733872" y="3533338"/>
          <a:ext cx="1313689" cy="2001809"/>
        </p:xfrm>
        <a:graphic>
          <a:graphicData uri="http://schemas.openxmlformats.org/presentationml/2006/ole">
            <mc:AlternateContent xmlns:mc="http://schemas.openxmlformats.org/markup-compatibility/2006">
              <mc:Choice xmlns:v="urn:schemas-microsoft-com:vml" Requires="v">
                <p:oleObj spid="_x0000_s1028" r:id="rId4" imgW="2616200" imgH="3987800" progId="Prism8.Document">
                  <p:embed/>
                </p:oleObj>
              </mc:Choice>
              <mc:Fallback>
                <p:oleObj r:id="rId4" imgW="2616200" imgH="3987800" progId="Prism8.Document">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33872" y="3533338"/>
                        <a:ext cx="1313689" cy="2001809"/>
                      </a:xfrm>
                      <a:prstGeom prst="rect">
                        <a:avLst/>
                      </a:prstGeom>
                      <a:noFill/>
                    </p:spPr>
                  </p:pic>
                </p:oleObj>
              </mc:Fallback>
            </mc:AlternateContent>
          </a:graphicData>
        </a:graphic>
      </p:graphicFrame>
    </p:spTree>
    <p:extLst>
      <p:ext uri="{BB962C8B-B14F-4D97-AF65-F5344CB8AC3E}">
        <p14:creationId xmlns:p14="http://schemas.microsoft.com/office/powerpoint/2010/main" val="2867428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dNeph_VisualAbstract_Template_NoText.potx" id="{B1C48F58-D1E0-4C98-814B-D3979964E517}" vid="{3276ECFE-687C-499A-B544-1DE21692DD62}"/>
    </a:ext>
  </a:ext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emplate/>
  <TotalTime>5888</TotalTime>
  <Words>173</Words>
  <Application>Microsoft Office PowerPoint</Application>
  <PresentationFormat>Widescreen</PresentationFormat>
  <Paragraphs>19</Paragraphs>
  <Slides>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Calibri Light</vt:lpstr>
      <vt:lpstr>等线</vt:lpstr>
      <vt:lpstr>等线 Light</vt:lpstr>
      <vt:lpstr>Times New Roman</vt:lpstr>
      <vt:lpstr>Office Theme</vt:lpstr>
      <vt:lpstr>Prism8.Document</vt:lpstr>
      <vt:lpstr>PowerPoint Presentation</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 IDEAS  initially using a combination of    monochromatic and triadic colours</dc:title>
  <dc:creator>Joseph Laycock</dc:creator>
  <cp:lastModifiedBy>Arene Ligo</cp:lastModifiedBy>
  <cp:revision>109</cp:revision>
  <dcterms:created xsi:type="dcterms:W3CDTF">2019-06-13T12:30:18Z</dcterms:created>
  <dcterms:modified xsi:type="dcterms:W3CDTF">2026-03-14T06:33:26Z</dcterms:modified>
</cp:coreProperties>
</file>